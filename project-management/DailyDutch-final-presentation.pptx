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db723c9-7630-41d7-c924-1643452ca86d}">
          <p14:sldIdLst>
            <p14:sldId id="256"/>
            <p14:sldId id="257"/>
          </p14:sldIdLst>
        </p14:section>
        <p14:section name="Initiation" id="{f3680bb5-a1f8-e67b-edd1-aa786f926735}">
          <p14:sldIdLst>
            <p14:sldId id="258"/>
            <p14:sldId id="259"/>
          </p14:sldIdLst>
        </p14:section>
        <p14:section name="Planning" id="{dfaf6155-9040-863a-ad94-b0769442b3f8}">
          <p14:sldIdLst>
            <p14:sldId id="260"/>
            <p14:sldId id="261"/>
            <p14:sldId id="262"/>
            <p14:sldId id="263"/>
            <p14:sldId id="264"/>
          </p14:sldIdLst>
        </p14:section>
        <p14:section name="Execution" id="{a9ed272f-2f6f-8d05-c232-6e422eb1c473}">
          <p14:sldIdLst>
            <p14:sldId id="265"/>
            <p14:sldId id="266"/>
          </p14:sldIdLst>
        </p14:section>
        <p14:section name="Monitoring &amp; control" id="{b036be61-9a7f-644b-6814-840e61af9065}">
          <p14:sldIdLst>
            <p14:sldId id="267"/>
            <p14:sldId id="268"/>
            <p14:sldId id="269"/>
          </p14:sldIdLst>
        </p14:section>
        <p14:section name="Closure" id="{96971de7-733f-4772-58c6-cae4def40a31}">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in one sentence: DailyDutch is a free web app that teaches Dutch from zero to A2 in 120 daily lessons. Today we walk through the whole project life cycle: initiation, planning, execution, monitoring and closure.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 the project life cycle. Initiation and planning documents were the baseline; execution and monitoring show how we built and controlled the work; closure shows where we stand against the Definition of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case. Newcomers and international students need everyday Dutch fast. Most apps are paid, need an account, or use sentences full of words you haven't learned. Our idea: one short lesson per day, and every sentence only uses words you already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objectives from the charter. Four of five are met today; O5, the public deployment, is the main open item and is why the Definition of Done is not yet fulfilled.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down out-of-scope items was our main defence against scope creep. Accounts and sync were tempting but would need a backend, privacy work and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lecturer has high power and high interest, so we manage them closely with status updates. Learners and test users have high interest but low power: keep informed and ask for feedback. Data providers and Vercel: monitor and keep satisfied — attribution and fair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split the work into seven packages. Content system and lesson content were the biggest; the content system (validator, word list, guide) made the 120 lessons possible in a short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went fast: setup on 19 October, the MVP on the 24th and all 120 lessons plus PWA and audio on the 25th. What is left is quality review, deployment and closure. Fill in the planned dates from your original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scored risks on probability times impact. The highest risk now is language quality in the fast-written lessons, so the read-through is on the remaining-work list. The 'unknown word' risk was closed by automation: the build fails if any sentence breaks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tour of the app — this is a good moment for a live demo. Every lesson goes words, grammar, dialogue. Review uses Leitner boxes: correct answers move a word up a box with a longer gap, up to 60 days; a wrong answer sends it back to box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build a vocabulary list from open data ordered by frequency, use the coverage script to pick the next words, write the lesson following the authoring guide, and let the validator check it. The first three lessons were hand-written as the reference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come straight from the repository on 28 October: validator output, test run and a count over the lesson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is controlled at three levels. The build gate runs content check, type check and build in one command, so a broken lesson can never be shipped. The human read-through is still open — that's the gap automation can't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status: the product is built, but the project isn't done yet. Six criteria remain, all in review, deployment and sign-off. This is why we don't call the project closed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Biggest wins: MVP first, automate the key quality rule, and write down what is out of scope. Biggest improvements: deploy early instead of at the end, plan review time while writing content, and baseline the schedule at kickoff.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to meet the Definition of Done. Deployment itself is small: Vercel builds the Vite app from GitHub with npm run build and serves the dist folder. Then we smoke-test on desktop and phone and ask the sponsor to sign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Offer a live demo on a phone if time allows. 'Dank je wel' is the very first phrase from lesson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3" name="Text 0"/>
          <p:cNvSpPr/>
          <p:nvPr>
            <p:ph idx="101" type="body" hasCustomPrompt="1"/>
          </p:nvPr>
        </p:nvSpPr>
        <p:spPr>
          <a:xfrm>
            <a:off x="731520" y="3566160"/>
            <a:ext cx="10698480" cy="109728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400" b="1" dirty="0">
                <a:solidFill>
                  <a:schemeClr val="tx1"/>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DailyDutch · SRH Haarlem · Project Management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DailyDutch</a:t>
            </a:r>
            <a:endParaRPr lang="en-US" sz="4800" dirty="0"/>
          </a:p>
        </p:txBody>
      </p:sp>
      <p:sp>
        <p:nvSpPr>
          <p:cNvPr id="3" name="Text 0"/>
          <p:cNvSpPr/>
          <p:nvPr>
            <p:ph idx="101" type="body" hasCustomPrompt="1"/>
          </p:nvPr>
        </p:nvSpPr>
        <p:spPr>
          <a:xfrm>
            <a:off x="731520" y="3566160"/>
            <a:ext cx="10698480" cy="1097280"/>
          </a:xfrm>
          <a:prstGeom prst="rect">
            <a:avLst/>
          </a:prstGeom>
          <a:noFill/>
          <a:ln/>
        </p:spPr>
        <p:txBody>
          <a:bodyPr wrap="square" rtlCol="0" anchor="t"/>
          <a:lstStyle/>
          <a:p>
            <a:pPr algn="l" indent="0" marL="0">
              <a:buNone/>
            </a:pPr>
            <a:r>
              <a:rPr lang="en-US" sz="2000" dirty="0">
                <a:solidFill>
                  <a:schemeClr val="bg2"/>
                </a:solidFill>
              </a:rPr>
              <a:t>Free daily Dutch lessons — from project charter to (almost) done</a:t>
            </a:r>
            <a:endParaRPr lang="en-US" sz="2000" dirty="0"/>
          </a:p>
        </p:txBody>
      </p:sp>
      <p:sp>
        <p:nvSpPr>
          <p:cNvPr id="4" name="Text 2"/>
          <p:cNvSpPr txBox="1"/>
          <p:nvPr/>
        </p:nvSpPr>
        <p:spPr>
          <a:xfrm>
            <a:off x="731520" y="5486400"/>
            <a:ext cx="10058400" cy="731520"/>
          </a:xfrm>
          <a:prstGeom prst="rect">
            <a:avLst/>
          </a:prstGeom>
          <a:noFill/>
          <a:ln/>
        </p:spPr>
        <p:txBody>
          <a:bodyPr wrap="square" lIns="0" tIns="0" rIns="0" bIns="0" rtlCol="0" anchor="t"/>
          <a:lstStyle/>
          <a:p>
            <a:pPr indent="0" marL="0">
              <a:buNone/>
            </a:pPr>
            <a:r>
              <a:rPr lang="en-US" sz="1400" dirty="0">
                <a:solidFill>
                  <a:schemeClr val="accent1"/>
                </a:solidFill>
              </a:rPr>
              <a:t>Project Management · SRH Haarlem University of Applied Sciences</a:t>
            </a:r>
            <a:endParaRPr lang="en-US" sz="1400" dirty="0"/>
          </a:p>
          <a:p>
            <a:pPr indent="0" marL="0">
              <a:buNone/>
            </a:pPr>
            <a:r>
              <a:rPr lang="en-US" sz="1400" dirty="0">
                <a:solidFill>
                  <a:schemeClr val="accent1"/>
                </a:solidFill>
              </a:rPr>
              <a:t>[Team names] · [Presentation 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Agenda</a:t>
            </a:r>
            <a:endParaRPr lang="en-US" sz="3400" dirty="0"/>
          </a:p>
        </p:txBody>
      </p:sp>
      <p:sp>
        <p:nvSpPr>
          <p:cNvPr id="4" name="Shape 1"/>
          <p:cNvSpPr/>
          <p:nvPr/>
        </p:nvSpPr>
        <p:spPr>
          <a:xfrm>
            <a:off x="731520" y="1417320"/>
            <a:ext cx="594360" cy="594360"/>
          </a:xfrm>
          <a:prstGeom prst="ellipse">
            <a:avLst/>
          </a:prstGeom>
          <a:solidFill>
            <a:schemeClr val="accent1"/>
          </a:solidFill>
          <a:ln w="12700">
            <a:solidFill>
              <a:schemeClr val="accent1"/>
            </a:solidFill>
            <a:prstDash val="solid"/>
          </a:ln>
        </p:spPr>
      </p:sp>
      <p:sp>
        <p:nvSpPr>
          <p:cNvPr id="5" name="Text 2"/>
          <p:cNvSpPr txBox="1"/>
          <p:nvPr/>
        </p:nvSpPr>
        <p:spPr>
          <a:xfrm>
            <a:off x="731520" y="1417320"/>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3"/>
          <p:cNvSpPr txBox="1"/>
          <p:nvPr/>
        </p:nvSpPr>
        <p:spPr>
          <a:xfrm>
            <a:off x="1554480" y="1399032"/>
            <a:ext cx="5486400" cy="365760"/>
          </a:xfrm>
          <a:prstGeom prst="rect">
            <a:avLst/>
          </a:prstGeom>
          <a:noFill/>
          <a:ln/>
        </p:spPr>
        <p:txBody>
          <a:bodyPr wrap="square" lIns="0" tIns="0" rIns="0" bIns="0" rtlCol="0" anchor="t"/>
          <a:lstStyle/>
          <a:p>
            <a:pPr indent="0" marL="0">
              <a:buNone/>
            </a:pPr>
            <a:r>
              <a:rPr lang="en-US" sz="2000" b="1" dirty="0">
                <a:solidFill>
                  <a:schemeClr val="tx1"/>
                </a:solidFill>
              </a:rPr>
              <a:t>Initiation</a:t>
            </a:r>
            <a:endParaRPr lang="en-US" sz="2000" dirty="0"/>
          </a:p>
        </p:txBody>
      </p:sp>
      <p:sp>
        <p:nvSpPr>
          <p:cNvPr id="7" name="Text 4"/>
          <p:cNvSpPr txBox="1"/>
          <p:nvPr/>
        </p:nvSpPr>
        <p:spPr>
          <a:xfrm>
            <a:off x="1554480" y="1746504"/>
            <a:ext cx="8229600" cy="320040"/>
          </a:xfrm>
          <a:prstGeom prst="rect">
            <a:avLst/>
          </a:prstGeom>
          <a:noFill/>
          <a:ln/>
        </p:spPr>
        <p:txBody>
          <a:bodyPr wrap="square" lIns="0" tIns="0" rIns="0" bIns="0" rtlCol="0" anchor="t"/>
          <a:lstStyle/>
          <a:p>
            <a:pPr indent="0" marL="0">
              <a:buNone/>
            </a:pPr>
            <a:r>
              <a:rPr lang="en-US" sz="1500" dirty="0">
                <a:solidFill>
                  <a:schemeClr val="tx2"/>
                </a:solidFill>
              </a:rPr>
              <a:t>Problem, business case, project charter</a:t>
            </a:r>
            <a:endParaRPr lang="en-US" sz="1500" dirty="0"/>
          </a:p>
        </p:txBody>
      </p:sp>
      <p:sp>
        <p:nvSpPr>
          <p:cNvPr id="8" name="Shape 5"/>
          <p:cNvSpPr/>
          <p:nvPr/>
        </p:nvSpPr>
        <p:spPr>
          <a:xfrm>
            <a:off x="731520" y="2377440"/>
            <a:ext cx="594360" cy="594360"/>
          </a:xfrm>
          <a:prstGeom prst="ellipse">
            <a:avLst/>
          </a:prstGeom>
          <a:solidFill>
            <a:schemeClr val="accent1"/>
          </a:solidFill>
          <a:ln w="12700">
            <a:solidFill>
              <a:schemeClr val="accent1"/>
            </a:solidFill>
            <a:prstDash val="solid"/>
          </a:ln>
        </p:spPr>
      </p:sp>
      <p:sp>
        <p:nvSpPr>
          <p:cNvPr id="9" name="Text 6"/>
          <p:cNvSpPr txBox="1"/>
          <p:nvPr/>
        </p:nvSpPr>
        <p:spPr>
          <a:xfrm>
            <a:off x="731520" y="2377440"/>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7"/>
          <p:cNvSpPr txBox="1"/>
          <p:nvPr/>
        </p:nvSpPr>
        <p:spPr>
          <a:xfrm>
            <a:off x="1554480" y="2359152"/>
            <a:ext cx="5486400" cy="365760"/>
          </a:xfrm>
          <a:prstGeom prst="rect">
            <a:avLst/>
          </a:prstGeom>
          <a:noFill/>
          <a:ln/>
        </p:spPr>
        <p:txBody>
          <a:bodyPr wrap="square" lIns="0" tIns="0" rIns="0" bIns="0" rtlCol="0" anchor="t"/>
          <a:lstStyle/>
          <a:p>
            <a:pPr indent="0" marL="0">
              <a:buNone/>
            </a:pPr>
            <a:r>
              <a:rPr lang="en-US" sz="2000" b="1" dirty="0">
                <a:solidFill>
                  <a:schemeClr val="tx1"/>
                </a:solidFill>
              </a:rPr>
              <a:t>Planning</a:t>
            </a:r>
            <a:endParaRPr lang="en-US" sz="2000" dirty="0"/>
          </a:p>
        </p:txBody>
      </p:sp>
      <p:sp>
        <p:nvSpPr>
          <p:cNvPr id="11" name="Text 8"/>
          <p:cNvSpPr txBox="1"/>
          <p:nvPr/>
        </p:nvSpPr>
        <p:spPr>
          <a:xfrm>
            <a:off x="1554480" y="2706624"/>
            <a:ext cx="8229600" cy="320040"/>
          </a:xfrm>
          <a:prstGeom prst="rect">
            <a:avLst/>
          </a:prstGeom>
          <a:noFill/>
          <a:ln/>
        </p:spPr>
        <p:txBody>
          <a:bodyPr wrap="square" lIns="0" tIns="0" rIns="0" bIns="0" rtlCol="0" anchor="t"/>
          <a:lstStyle/>
          <a:p>
            <a:pPr indent="0" marL="0">
              <a:buNone/>
            </a:pPr>
            <a:r>
              <a:rPr lang="en-US" sz="1500" dirty="0">
                <a:solidFill>
                  <a:schemeClr val="tx2"/>
                </a:solidFill>
              </a:rPr>
              <a:t>Scope, stakeholders, WBS, schedule, risks</a:t>
            </a:r>
            <a:endParaRPr lang="en-US" sz="1500" dirty="0"/>
          </a:p>
        </p:txBody>
      </p:sp>
      <p:sp>
        <p:nvSpPr>
          <p:cNvPr id="12" name="Shape 9"/>
          <p:cNvSpPr/>
          <p:nvPr/>
        </p:nvSpPr>
        <p:spPr>
          <a:xfrm>
            <a:off x="731520" y="3337560"/>
            <a:ext cx="594360" cy="594360"/>
          </a:xfrm>
          <a:prstGeom prst="ellipse">
            <a:avLst/>
          </a:prstGeom>
          <a:solidFill>
            <a:schemeClr val="accent1"/>
          </a:solidFill>
          <a:ln w="12700">
            <a:solidFill>
              <a:schemeClr val="accent1"/>
            </a:solidFill>
            <a:prstDash val="solid"/>
          </a:ln>
        </p:spPr>
      </p:sp>
      <p:sp>
        <p:nvSpPr>
          <p:cNvPr id="13" name="Text 10"/>
          <p:cNvSpPr txBox="1"/>
          <p:nvPr/>
        </p:nvSpPr>
        <p:spPr>
          <a:xfrm>
            <a:off x="731520" y="3337560"/>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1"/>
          <p:cNvSpPr txBox="1"/>
          <p:nvPr/>
        </p:nvSpPr>
        <p:spPr>
          <a:xfrm>
            <a:off x="1554480" y="3319272"/>
            <a:ext cx="5486400" cy="365760"/>
          </a:xfrm>
          <a:prstGeom prst="rect">
            <a:avLst/>
          </a:prstGeom>
          <a:noFill/>
          <a:ln/>
        </p:spPr>
        <p:txBody>
          <a:bodyPr wrap="square" lIns="0" tIns="0" rIns="0" bIns="0" rtlCol="0" anchor="t"/>
          <a:lstStyle/>
          <a:p>
            <a:pPr indent="0" marL="0">
              <a:buNone/>
            </a:pPr>
            <a:r>
              <a:rPr lang="en-US" sz="2000" b="1" dirty="0">
                <a:solidFill>
                  <a:schemeClr val="tx1"/>
                </a:solidFill>
              </a:rPr>
              <a:t>Execution</a:t>
            </a:r>
            <a:endParaRPr lang="en-US" sz="2000" dirty="0"/>
          </a:p>
        </p:txBody>
      </p:sp>
      <p:sp>
        <p:nvSpPr>
          <p:cNvPr id="15" name="Text 12"/>
          <p:cNvSpPr txBox="1"/>
          <p:nvPr/>
        </p:nvSpPr>
        <p:spPr>
          <a:xfrm>
            <a:off x="1554480" y="3666744"/>
            <a:ext cx="8229600" cy="320040"/>
          </a:xfrm>
          <a:prstGeom prst="rect">
            <a:avLst/>
          </a:prstGeom>
          <a:noFill/>
          <a:ln/>
        </p:spPr>
        <p:txBody>
          <a:bodyPr wrap="square" lIns="0" tIns="0" rIns="0" bIns="0" rtlCol="0" anchor="t"/>
          <a:lstStyle/>
          <a:p>
            <a:pPr indent="0" marL="0">
              <a:buNone/>
            </a:pPr>
            <a:r>
              <a:rPr lang="en-US" sz="1500" dirty="0">
                <a:solidFill>
                  <a:schemeClr val="tx2"/>
                </a:solidFill>
              </a:rPr>
              <a:t>What we built and how</a:t>
            </a:r>
            <a:endParaRPr lang="en-US" sz="1500" dirty="0"/>
          </a:p>
        </p:txBody>
      </p:sp>
      <p:sp>
        <p:nvSpPr>
          <p:cNvPr id="16" name="Shape 13"/>
          <p:cNvSpPr/>
          <p:nvPr/>
        </p:nvSpPr>
        <p:spPr>
          <a:xfrm>
            <a:off x="731520" y="4297680"/>
            <a:ext cx="594360" cy="594360"/>
          </a:xfrm>
          <a:prstGeom prst="ellipse">
            <a:avLst/>
          </a:prstGeom>
          <a:solidFill>
            <a:schemeClr val="accent1"/>
          </a:solidFill>
          <a:ln w="12700">
            <a:solidFill>
              <a:schemeClr val="accent1"/>
            </a:solidFill>
            <a:prstDash val="solid"/>
          </a:ln>
        </p:spPr>
      </p:sp>
      <p:sp>
        <p:nvSpPr>
          <p:cNvPr id="17" name="Text 14"/>
          <p:cNvSpPr txBox="1"/>
          <p:nvPr/>
        </p:nvSpPr>
        <p:spPr>
          <a:xfrm>
            <a:off x="731520" y="4297680"/>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Text 15"/>
          <p:cNvSpPr txBox="1"/>
          <p:nvPr/>
        </p:nvSpPr>
        <p:spPr>
          <a:xfrm>
            <a:off x="1554480" y="4279392"/>
            <a:ext cx="5486400" cy="365760"/>
          </a:xfrm>
          <a:prstGeom prst="rect">
            <a:avLst/>
          </a:prstGeom>
          <a:noFill/>
          <a:ln/>
        </p:spPr>
        <p:txBody>
          <a:bodyPr wrap="square" lIns="0" tIns="0" rIns="0" bIns="0" rtlCol="0" anchor="t"/>
          <a:lstStyle/>
          <a:p>
            <a:pPr indent="0" marL="0">
              <a:buNone/>
            </a:pPr>
            <a:r>
              <a:rPr lang="en-US" sz="2000" b="1" dirty="0">
                <a:solidFill>
                  <a:schemeClr val="tx1"/>
                </a:solidFill>
              </a:rPr>
              <a:t>Monitoring &amp; control</a:t>
            </a:r>
            <a:endParaRPr lang="en-US" sz="2000" dirty="0"/>
          </a:p>
        </p:txBody>
      </p:sp>
      <p:sp>
        <p:nvSpPr>
          <p:cNvPr id="19" name="Text 16"/>
          <p:cNvSpPr txBox="1"/>
          <p:nvPr/>
        </p:nvSpPr>
        <p:spPr>
          <a:xfrm>
            <a:off x="1554480" y="4626864"/>
            <a:ext cx="8229600" cy="320040"/>
          </a:xfrm>
          <a:prstGeom prst="rect">
            <a:avLst/>
          </a:prstGeom>
          <a:noFill/>
          <a:ln/>
        </p:spPr>
        <p:txBody>
          <a:bodyPr wrap="square" lIns="0" tIns="0" rIns="0" bIns="0" rtlCol="0" anchor="t"/>
          <a:lstStyle/>
          <a:p>
            <a:pPr indent="0" marL="0">
              <a:buNone/>
            </a:pPr>
            <a:r>
              <a:rPr lang="en-US" sz="1500" dirty="0">
                <a:solidFill>
                  <a:schemeClr val="tx2"/>
                </a:solidFill>
              </a:rPr>
              <a:t>Quality, results, Definition of Done</a:t>
            </a:r>
            <a:endParaRPr lang="en-US" sz="1500" dirty="0"/>
          </a:p>
        </p:txBody>
      </p:sp>
      <p:sp>
        <p:nvSpPr>
          <p:cNvPr id="20" name="Shape 17"/>
          <p:cNvSpPr/>
          <p:nvPr/>
        </p:nvSpPr>
        <p:spPr>
          <a:xfrm>
            <a:off x="731520" y="5257800"/>
            <a:ext cx="594360" cy="594360"/>
          </a:xfrm>
          <a:prstGeom prst="ellipse">
            <a:avLst/>
          </a:prstGeom>
          <a:solidFill>
            <a:schemeClr val="accent1"/>
          </a:solidFill>
          <a:ln w="12700">
            <a:solidFill>
              <a:schemeClr val="accent1"/>
            </a:solidFill>
            <a:prstDash val="solid"/>
          </a:ln>
        </p:spPr>
      </p:sp>
      <p:sp>
        <p:nvSpPr>
          <p:cNvPr id="21" name="Text 18"/>
          <p:cNvSpPr txBox="1"/>
          <p:nvPr/>
        </p:nvSpPr>
        <p:spPr>
          <a:xfrm>
            <a:off x="731520" y="5257800"/>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2" name="Text 19"/>
          <p:cNvSpPr txBox="1"/>
          <p:nvPr/>
        </p:nvSpPr>
        <p:spPr>
          <a:xfrm>
            <a:off x="1554480" y="5239512"/>
            <a:ext cx="5486400" cy="365760"/>
          </a:xfrm>
          <a:prstGeom prst="rect">
            <a:avLst/>
          </a:prstGeom>
          <a:noFill/>
          <a:ln/>
        </p:spPr>
        <p:txBody>
          <a:bodyPr wrap="square" lIns="0" tIns="0" rIns="0" bIns="0" rtlCol="0" anchor="t"/>
          <a:lstStyle/>
          <a:p>
            <a:pPr indent="0" marL="0">
              <a:buNone/>
            </a:pPr>
            <a:r>
              <a:rPr lang="en-US" sz="2000" b="1" dirty="0">
                <a:solidFill>
                  <a:schemeClr val="tx1"/>
                </a:solidFill>
              </a:rPr>
              <a:t>Closure</a:t>
            </a:r>
            <a:endParaRPr lang="en-US" sz="2000" dirty="0"/>
          </a:p>
        </p:txBody>
      </p:sp>
      <p:sp>
        <p:nvSpPr>
          <p:cNvPr id="23" name="Text 20"/>
          <p:cNvSpPr txBox="1"/>
          <p:nvPr/>
        </p:nvSpPr>
        <p:spPr>
          <a:xfrm>
            <a:off x="1554480" y="5586984"/>
            <a:ext cx="8229600" cy="320040"/>
          </a:xfrm>
          <a:prstGeom prst="rect">
            <a:avLst/>
          </a:prstGeom>
          <a:noFill/>
          <a:ln/>
        </p:spPr>
        <p:txBody>
          <a:bodyPr wrap="square" lIns="0" tIns="0" rIns="0" bIns="0" rtlCol="0" anchor="t"/>
          <a:lstStyle/>
          <a:p>
            <a:pPr indent="0" marL="0">
              <a:buNone/>
            </a:pPr>
            <a:r>
              <a:rPr lang="en-US" sz="1500" dirty="0">
                <a:solidFill>
                  <a:schemeClr val="tx2"/>
                </a:solidFill>
              </a:rPr>
              <a:t>Lessons learned, deployment, next steps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Learning Dutch should not cost money or patience</a:t>
            </a:r>
            <a:endParaRPr lang="en-US" sz="3400" dirty="0"/>
          </a:p>
        </p:txBody>
      </p:sp>
      <p:sp>
        <p:nvSpPr>
          <p:cNvPr id="4" name="Shape 1"/>
          <p:cNvSpPr/>
          <p:nvPr/>
        </p:nvSpPr>
        <p:spPr>
          <a:xfrm>
            <a:off x="548640" y="1371600"/>
            <a:ext cx="5394960" cy="4663440"/>
          </a:xfrm>
          <a:prstGeom prst="roundRect">
            <a:avLst>
              <a:gd name="adj" fmla="val 2353"/>
            </a:avLst>
          </a:prstGeom>
          <a:solidFill>
            <a:schemeClr val="bg2"/>
          </a:solidFill>
          <a:ln w="12700">
            <a:solidFill>
              <a:schemeClr val="bg2"/>
            </a:solidFill>
            <a:prstDash val="solid"/>
          </a:ln>
        </p:spPr>
      </p:sp>
      <p:sp>
        <p:nvSpPr>
          <p:cNvPr id="5" name="Text 2"/>
          <p:cNvSpPr txBox="1"/>
          <p:nvPr/>
        </p:nvSpPr>
        <p:spPr>
          <a:xfrm>
            <a:off x="868680" y="1645920"/>
            <a:ext cx="4754880" cy="457200"/>
          </a:xfrm>
          <a:prstGeom prst="rect">
            <a:avLst/>
          </a:prstGeom>
          <a:noFill/>
          <a:ln/>
        </p:spPr>
        <p:txBody>
          <a:bodyPr wrap="square" lIns="0" tIns="0" rIns="0" bIns="0" rtlCol="0" anchor="t"/>
          <a:lstStyle/>
          <a:p>
            <a:pPr indent="0" marL="0">
              <a:buNone/>
            </a:pPr>
            <a:r>
              <a:rPr lang="en-US" sz="2200" b="1" dirty="0">
                <a:solidFill>
                  <a:schemeClr val="accent4"/>
                </a:solidFill>
              </a:rPr>
              <a:t>The problem</a:t>
            </a:r>
            <a:endParaRPr lang="en-US" sz="2200" dirty="0"/>
          </a:p>
        </p:txBody>
      </p:sp>
      <p:sp>
        <p:nvSpPr>
          <p:cNvPr id="6" name="Text 3"/>
          <p:cNvSpPr txBox="1"/>
          <p:nvPr/>
        </p:nvSpPr>
        <p:spPr>
          <a:xfrm>
            <a:off x="868680" y="2286000"/>
            <a:ext cx="4754880" cy="320040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Most apps need subscriptions or accounts</a:t>
            </a:r>
            <a:endParaRPr lang="en-US" sz="1700" dirty="0"/>
          </a:p>
          <a:p>
            <a:pPr marL="342900" indent="-342900">
              <a:spcAft>
                <a:spcPts val="1200"/>
              </a:spcAft>
              <a:buSzPct val="100000"/>
              <a:buChar char="•"/>
            </a:pPr>
            <a:r>
              <a:rPr lang="en-US" sz="1700" dirty="0">
                <a:solidFill>
                  <a:schemeClr val="tx1"/>
                </a:solidFill>
              </a:rPr>
              <a:t>Sentences use words the learner never saw</a:t>
            </a:r>
            <a:endParaRPr lang="en-US" sz="1700" dirty="0"/>
          </a:p>
          <a:p>
            <a:pPr marL="342900" indent="-342900">
              <a:spcAft>
                <a:spcPts val="1200"/>
              </a:spcAft>
              <a:buSzPct val="100000"/>
              <a:buChar char="•"/>
            </a:pPr>
            <a:r>
              <a:rPr lang="en-US" sz="1700" dirty="0">
                <a:solidFill>
                  <a:schemeClr val="tx1"/>
                </a:solidFill>
              </a:rPr>
              <a:t>Words are learned once, then forgotten</a:t>
            </a:r>
            <a:endParaRPr lang="en-US" sz="1700" dirty="0"/>
          </a:p>
          <a:p>
            <a:pPr marL="342900" indent="-342900">
              <a:spcAft>
                <a:spcPts val="1200"/>
              </a:spcAft>
              <a:buSzPct val="100000"/>
              <a:buChar char="•"/>
            </a:pPr>
            <a:r>
              <a:rPr lang="en-US" sz="1700" dirty="0">
                <a:solidFill>
                  <a:schemeClr val="tx1"/>
                </a:solidFill>
              </a:rPr>
              <a:t>No clear daily rhythm</a:t>
            </a:r>
            <a:endParaRPr lang="en-US" sz="1700" dirty="0"/>
          </a:p>
        </p:txBody>
      </p:sp>
      <p:sp>
        <p:nvSpPr>
          <p:cNvPr id="7" name="Shape 4"/>
          <p:cNvSpPr/>
          <p:nvPr/>
        </p:nvSpPr>
        <p:spPr>
          <a:xfrm>
            <a:off x="6263640" y="1371600"/>
            <a:ext cx="5394960" cy="4663440"/>
          </a:xfrm>
          <a:prstGeom prst="roundRect">
            <a:avLst>
              <a:gd name="adj" fmla="val 2353"/>
            </a:avLst>
          </a:prstGeom>
          <a:solidFill>
            <a:schemeClr val="tx1"/>
          </a:solidFill>
          <a:ln w="12700">
            <a:solidFill>
              <a:schemeClr val="tx1"/>
            </a:solidFill>
            <a:prstDash val="solid"/>
          </a:ln>
        </p:spPr>
      </p:sp>
      <p:sp>
        <p:nvSpPr>
          <p:cNvPr id="8" name="Text 5"/>
          <p:cNvSpPr txBox="1"/>
          <p:nvPr/>
        </p:nvSpPr>
        <p:spPr>
          <a:xfrm>
            <a:off x="6583680" y="1645920"/>
            <a:ext cx="4754880" cy="457200"/>
          </a:xfrm>
          <a:prstGeom prst="rect">
            <a:avLst/>
          </a:prstGeom>
          <a:noFill/>
          <a:ln/>
        </p:spPr>
        <p:txBody>
          <a:bodyPr wrap="square" lIns="0" tIns="0" rIns="0" bIns="0" rtlCol="0" anchor="t"/>
          <a:lstStyle/>
          <a:p>
            <a:pPr indent="0" marL="0">
              <a:buNone/>
            </a:pPr>
            <a:r>
              <a:rPr lang="en-US" sz="2200" b="1" dirty="0">
                <a:solidFill>
                  <a:schemeClr val="accent1"/>
                </a:solidFill>
              </a:rPr>
              <a:t>Our solution: DailyDutch</a:t>
            </a:r>
            <a:endParaRPr lang="en-US" sz="2200" dirty="0"/>
          </a:p>
        </p:txBody>
      </p:sp>
      <p:sp>
        <p:nvSpPr>
          <p:cNvPr id="9" name="Text 6"/>
          <p:cNvSpPr txBox="1"/>
          <p:nvPr/>
        </p:nvSpPr>
        <p:spPr>
          <a:xfrm>
            <a:off x="6583680" y="2286000"/>
            <a:ext cx="4754880" cy="320040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bg1"/>
                </a:solidFill>
              </a:rPr>
              <a:t>Free, no login, no ads</a:t>
            </a:r>
            <a:endParaRPr lang="en-US" sz="1700" dirty="0"/>
          </a:p>
          <a:p>
            <a:pPr marL="342900" indent="-342900">
              <a:spcAft>
                <a:spcPts val="1200"/>
              </a:spcAft>
              <a:buSzPct val="100000"/>
              <a:buChar char="•"/>
            </a:pPr>
            <a:r>
              <a:rPr lang="en-US" sz="1700" dirty="0">
                <a:solidFill>
                  <a:schemeClr val="bg1"/>
                </a:solidFill>
              </a:rPr>
              <a:t>Only words already taught — checked by a script</a:t>
            </a:r>
            <a:endParaRPr lang="en-US" sz="1700" dirty="0"/>
          </a:p>
          <a:p>
            <a:pPr marL="342900" indent="-342900">
              <a:spcAft>
                <a:spcPts val="1200"/>
              </a:spcAft>
              <a:buSzPct val="100000"/>
              <a:buChar char="•"/>
            </a:pPr>
            <a:r>
              <a:rPr lang="en-US" sz="1700" dirty="0">
                <a:solidFill>
                  <a:schemeClr val="bg1"/>
                </a:solidFill>
              </a:rPr>
              <a:t>Spaced-repetition review built in</a:t>
            </a:r>
            <a:endParaRPr lang="en-US" sz="1700" dirty="0"/>
          </a:p>
          <a:p>
            <a:pPr marL="342900" indent="-342900">
              <a:spcAft>
                <a:spcPts val="1200"/>
              </a:spcAft>
              <a:buSzPct val="100000"/>
              <a:buChar char="•"/>
            </a:pPr>
            <a:r>
              <a:rPr lang="en-US" sz="1700" dirty="0">
                <a:solidFill>
                  <a:schemeClr val="bg1"/>
                </a:solidFill>
              </a:rPr>
              <a:t>One 10–15 min lesson per day, 120 days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Project charter: five SMART objectives</a:t>
            </a:r>
            <a:endParaRPr lang="en-US" sz="3400" dirty="0"/>
          </a:p>
        </p:txBody>
      </p:sp>
      <p:sp>
        <p:nvSpPr>
          <p:cNvPr id="4" name="Shape 1"/>
          <p:cNvSpPr/>
          <p:nvPr/>
        </p:nvSpPr>
        <p:spPr>
          <a:xfrm>
            <a:off x="548640" y="1463040"/>
            <a:ext cx="2103120" cy="3566160"/>
          </a:xfrm>
          <a:prstGeom prst="roundRect">
            <a:avLst>
              <a:gd name="adj" fmla="val 5217"/>
            </a:avLst>
          </a:prstGeom>
          <a:solidFill>
            <a:schemeClr val="bg2"/>
          </a:solidFill>
          <a:ln w="12700">
            <a:solidFill>
              <a:schemeClr val="bg2"/>
            </a:solidFill>
            <a:prstDash val="solid"/>
          </a:ln>
        </p:spPr>
      </p:sp>
      <p:sp>
        <p:nvSpPr>
          <p:cNvPr id="5" name="Text 2"/>
          <p:cNvSpPr txBox="1"/>
          <p:nvPr/>
        </p:nvSpPr>
        <p:spPr>
          <a:xfrm>
            <a:off x="777240" y="1691640"/>
            <a:ext cx="13716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O1</a:t>
            </a:r>
            <a:endParaRPr lang="en-US" sz="2600" dirty="0"/>
          </a:p>
        </p:txBody>
      </p:sp>
      <p:sp>
        <p:nvSpPr>
          <p:cNvPr id="6" name="Text 3"/>
          <p:cNvSpPr txBox="1"/>
          <p:nvPr/>
        </p:nvSpPr>
        <p:spPr>
          <a:xfrm>
            <a:off x="777240" y="2286000"/>
            <a:ext cx="1645920" cy="1005840"/>
          </a:xfrm>
          <a:prstGeom prst="rect">
            <a:avLst/>
          </a:prstGeom>
          <a:noFill/>
          <a:ln/>
        </p:spPr>
        <p:txBody>
          <a:bodyPr wrap="square" lIns="0" tIns="0" rIns="0" bIns="0" rtlCol="0" anchor="t"/>
          <a:lstStyle/>
          <a:p>
            <a:pPr indent="0" marL="0">
              <a:buNone/>
            </a:pPr>
            <a:r>
              <a:rPr lang="en-US" sz="1700" b="1" dirty="0">
                <a:solidFill>
                  <a:schemeClr val="tx1"/>
                </a:solidFill>
              </a:rPr>
              <a:t>Complete A1–A2 curriculum</a:t>
            </a:r>
            <a:endParaRPr lang="en-US" sz="1700" dirty="0"/>
          </a:p>
        </p:txBody>
      </p:sp>
      <p:sp>
        <p:nvSpPr>
          <p:cNvPr id="7" name="Text 4"/>
          <p:cNvSpPr txBox="1"/>
          <p:nvPr/>
        </p:nvSpPr>
        <p:spPr>
          <a:xfrm>
            <a:off x="777240" y="3337560"/>
            <a:ext cx="1645920" cy="731520"/>
          </a:xfrm>
          <a:prstGeom prst="rect">
            <a:avLst/>
          </a:prstGeom>
          <a:noFill/>
          <a:ln/>
        </p:spPr>
        <p:txBody>
          <a:bodyPr wrap="square" lIns="0" tIns="0" rIns="0" bIns="0" rtlCol="0" anchor="t"/>
          <a:lstStyle/>
          <a:p>
            <a:pPr indent="0" marL="0">
              <a:buNone/>
            </a:pPr>
            <a:r>
              <a:rPr lang="en-US" sz="1400" dirty="0">
                <a:solidFill>
                  <a:schemeClr val="tx2"/>
                </a:solidFill>
              </a:rPr>
              <a:t>Target: 120 lessons</a:t>
            </a:r>
            <a:endParaRPr lang="en-US" sz="1400" dirty="0"/>
          </a:p>
        </p:txBody>
      </p:sp>
      <p:sp>
        <p:nvSpPr>
          <p:cNvPr id="8" name="Shape 5"/>
          <p:cNvSpPr/>
          <p:nvPr/>
        </p:nvSpPr>
        <p:spPr>
          <a:xfrm>
            <a:off x="777240" y="4343400"/>
            <a:ext cx="1645920" cy="411480"/>
          </a:xfrm>
          <a:prstGeom prst="roundRect">
            <a:avLst>
              <a:gd name="adj" fmla="val 17778"/>
            </a:avLst>
          </a:prstGeom>
          <a:solidFill>
            <a:schemeClr val="accent3"/>
          </a:solidFill>
          <a:ln w="12700">
            <a:solidFill>
              <a:schemeClr val="accent3"/>
            </a:solidFill>
            <a:prstDash val="solid"/>
          </a:ln>
        </p:spPr>
      </p:sp>
      <p:sp>
        <p:nvSpPr>
          <p:cNvPr id="9" name="Text 6"/>
          <p:cNvSpPr txBox="1"/>
          <p:nvPr/>
        </p:nvSpPr>
        <p:spPr>
          <a:xfrm>
            <a:off x="777240" y="4343400"/>
            <a:ext cx="1645920" cy="411480"/>
          </a:xfrm>
          <a:prstGeom prst="rect">
            <a:avLst/>
          </a:prstGeom>
          <a:noFill/>
          <a:ln/>
        </p:spPr>
        <p:txBody>
          <a:bodyPr wrap="square" lIns="0" tIns="0" rIns="0" bIns="0" rtlCol="0" anchor="ctr"/>
          <a:lstStyle/>
          <a:p>
            <a:pPr algn="ctr" indent="0" marL="0">
              <a:buNone/>
            </a:pPr>
            <a:r>
              <a:rPr lang="en-US" sz="1400" b="1" dirty="0">
                <a:solidFill>
                  <a:schemeClr val="bg1"/>
                </a:solidFill>
              </a:rPr>
              <a:t>Met</a:t>
            </a:r>
            <a:endParaRPr lang="en-US" sz="1400" dirty="0"/>
          </a:p>
        </p:txBody>
      </p:sp>
      <p:sp>
        <p:nvSpPr>
          <p:cNvPr id="10" name="Shape 7"/>
          <p:cNvSpPr/>
          <p:nvPr/>
        </p:nvSpPr>
        <p:spPr>
          <a:xfrm>
            <a:off x="2788920" y="1463040"/>
            <a:ext cx="2103120" cy="3566160"/>
          </a:xfrm>
          <a:prstGeom prst="roundRect">
            <a:avLst>
              <a:gd name="adj" fmla="val 5217"/>
            </a:avLst>
          </a:prstGeom>
          <a:solidFill>
            <a:schemeClr val="bg2"/>
          </a:solidFill>
          <a:ln w="12700">
            <a:solidFill>
              <a:schemeClr val="bg2"/>
            </a:solidFill>
            <a:prstDash val="solid"/>
          </a:ln>
        </p:spPr>
      </p:sp>
      <p:sp>
        <p:nvSpPr>
          <p:cNvPr id="11" name="Text 8"/>
          <p:cNvSpPr txBox="1"/>
          <p:nvPr/>
        </p:nvSpPr>
        <p:spPr>
          <a:xfrm>
            <a:off x="3017520" y="1691640"/>
            <a:ext cx="13716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O2</a:t>
            </a:r>
            <a:endParaRPr lang="en-US" sz="2600" dirty="0"/>
          </a:p>
        </p:txBody>
      </p:sp>
      <p:sp>
        <p:nvSpPr>
          <p:cNvPr id="12" name="Text 9"/>
          <p:cNvSpPr txBox="1"/>
          <p:nvPr/>
        </p:nvSpPr>
        <p:spPr>
          <a:xfrm>
            <a:off x="3017520" y="2286000"/>
            <a:ext cx="1645920" cy="1005840"/>
          </a:xfrm>
          <a:prstGeom prst="rect">
            <a:avLst/>
          </a:prstGeom>
          <a:noFill/>
          <a:ln/>
        </p:spPr>
        <p:txBody>
          <a:bodyPr wrap="square" lIns="0" tIns="0" rIns="0" bIns="0" rtlCol="0" anchor="t"/>
          <a:lstStyle/>
          <a:p>
            <a:pPr indent="0" marL="0">
              <a:buNone/>
            </a:pPr>
            <a:r>
              <a:rPr lang="en-US" sz="1700" b="1" dirty="0">
                <a:solidFill>
                  <a:schemeClr val="tx1"/>
                </a:solidFill>
              </a:rPr>
              <a:t>Only already-taught words</a:t>
            </a:r>
            <a:endParaRPr lang="en-US" sz="1700" dirty="0"/>
          </a:p>
        </p:txBody>
      </p:sp>
      <p:sp>
        <p:nvSpPr>
          <p:cNvPr id="13" name="Text 10"/>
          <p:cNvSpPr txBox="1"/>
          <p:nvPr/>
        </p:nvSpPr>
        <p:spPr>
          <a:xfrm>
            <a:off x="3017520" y="3337560"/>
            <a:ext cx="1645920" cy="731520"/>
          </a:xfrm>
          <a:prstGeom prst="rect">
            <a:avLst/>
          </a:prstGeom>
          <a:noFill/>
          <a:ln/>
        </p:spPr>
        <p:txBody>
          <a:bodyPr wrap="square" lIns="0" tIns="0" rIns="0" bIns="0" rtlCol="0" anchor="t"/>
          <a:lstStyle/>
          <a:p>
            <a:pPr indent="0" marL="0">
              <a:buNone/>
            </a:pPr>
            <a:r>
              <a:rPr lang="en-US" sz="1400" dirty="0">
                <a:solidFill>
                  <a:schemeClr val="tx2"/>
                </a:solidFill>
              </a:rPr>
              <a:t>Target: 0 validator errors</a:t>
            </a:r>
            <a:endParaRPr lang="en-US" sz="1400" dirty="0"/>
          </a:p>
        </p:txBody>
      </p:sp>
      <p:sp>
        <p:nvSpPr>
          <p:cNvPr id="14" name="Shape 11"/>
          <p:cNvSpPr/>
          <p:nvPr/>
        </p:nvSpPr>
        <p:spPr>
          <a:xfrm>
            <a:off x="3017520" y="4343400"/>
            <a:ext cx="1645920" cy="411480"/>
          </a:xfrm>
          <a:prstGeom prst="roundRect">
            <a:avLst>
              <a:gd name="adj" fmla="val 17778"/>
            </a:avLst>
          </a:prstGeom>
          <a:solidFill>
            <a:schemeClr val="accent3"/>
          </a:solidFill>
          <a:ln w="12700">
            <a:solidFill>
              <a:schemeClr val="accent3"/>
            </a:solidFill>
            <a:prstDash val="solid"/>
          </a:ln>
        </p:spPr>
      </p:sp>
      <p:sp>
        <p:nvSpPr>
          <p:cNvPr id="15" name="Text 12"/>
          <p:cNvSpPr txBox="1"/>
          <p:nvPr/>
        </p:nvSpPr>
        <p:spPr>
          <a:xfrm>
            <a:off x="3017520" y="4343400"/>
            <a:ext cx="1645920" cy="411480"/>
          </a:xfrm>
          <a:prstGeom prst="rect">
            <a:avLst/>
          </a:prstGeom>
          <a:noFill/>
          <a:ln/>
        </p:spPr>
        <p:txBody>
          <a:bodyPr wrap="square" lIns="0" tIns="0" rIns="0" bIns="0" rtlCol="0" anchor="ctr"/>
          <a:lstStyle/>
          <a:p>
            <a:pPr algn="ctr" indent="0" marL="0">
              <a:buNone/>
            </a:pPr>
            <a:r>
              <a:rPr lang="en-US" sz="1400" b="1" dirty="0">
                <a:solidFill>
                  <a:schemeClr val="bg1"/>
                </a:solidFill>
              </a:rPr>
              <a:t>Met</a:t>
            </a:r>
            <a:endParaRPr lang="en-US" sz="1400" dirty="0"/>
          </a:p>
        </p:txBody>
      </p:sp>
      <p:sp>
        <p:nvSpPr>
          <p:cNvPr id="16" name="Shape 13"/>
          <p:cNvSpPr/>
          <p:nvPr/>
        </p:nvSpPr>
        <p:spPr>
          <a:xfrm>
            <a:off x="5029200" y="1463040"/>
            <a:ext cx="2103120" cy="3566160"/>
          </a:xfrm>
          <a:prstGeom prst="roundRect">
            <a:avLst>
              <a:gd name="adj" fmla="val 5217"/>
            </a:avLst>
          </a:prstGeom>
          <a:solidFill>
            <a:schemeClr val="bg2"/>
          </a:solidFill>
          <a:ln w="12700">
            <a:solidFill>
              <a:schemeClr val="bg2"/>
            </a:solidFill>
            <a:prstDash val="solid"/>
          </a:ln>
        </p:spPr>
      </p:sp>
      <p:sp>
        <p:nvSpPr>
          <p:cNvPr id="17" name="Text 14"/>
          <p:cNvSpPr txBox="1"/>
          <p:nvPr/>
        </p:nvSpPr>
        <p:spPr>
          <a:xfrm>
            <a:off x="5257800" y="1691640"/>
            <a:ext cx="13716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O3</a:t>
            </a:r>
            <a:endParaRPr lang="en-US" sz="2600" dirty="0"/>
          </a:p>
        </p:txBody>
      </p:sp>
      <p:sp>
        <p:nvSpPr>
          <p:cNvPr id="18" name="Text 15"/>
          <p:cNvSpPr txBox="1"/>
          <p:nvPr/>
        </p:nvSpPr>
        <p:spPr>
          <a:xfrm>
            <a:off x="5257800" y="2286000"/>
            <a:ext cx="1645920" cy="1005840"/>
          </a:xfrm>
          <a:prstGeom prst="rect">
            <a:avLst/>
          </a:prstGeom>
          <a:noFill/>
          <a:ln/>
        </p:spPr>
        <p:txBody>
          <a:bodyPr wrap="square" lIns="0" tIns="0" rIns="0" bIns="0" rtlCol="0" anchor="t"/>
          <a:lstStyle/>
          <a:p>
            <a:pPr indent="0" marL="0">
              <a:buNone/>
            </a:pPr>
            <a:r>
              <a:rPr lang="en-US" sz="1700" b="1" dirty="0">
                <a:solidFill>
                  <a:schemeClr val="tx1"/>
                </a:solidFill>
              </a:rPr>
              <a:t>Long-term retention</a:t>
            </a:r>
            <a:endParaRPr lang="en-US" sz="1700" dirty="0"/>
          </a:p>
        </p:txBody>
      </p:sp>
      <p:sp>
        <p:nvSpPr>
          <p:cNvPr id="19" name="Text 16"/>
          <p:cNvSpPr txBox="1"/>
          <p:nvPr/>
        </p:nvSpPr>
        <p:spPr>
          <a:xfrm>
            <a:off x="5257800" y="3337560"/>
            <a:ext cx="1645920" cy="731520"/>
          </a:xfrm>
          <a:prstGeom prst="rect">
            <a:avLst/>
          </a:prstGeom>
          <a:noFill/>
          <a:ln/>
        </p:spPr>
        <p:txBody>
          <a:bodyPr wrap="square" lIns="0" tIns="0" rIns="0" bIns="0" rtlCol="0" anchor="t"/>
          <a:lstStyle/>
          <a:p>
            <a:pPr indent="0" marL="0">
              <a:buNone/>
            </a:pPr>
            <a:r>
              <a:rPr lang="en-US" sz="1400" dirty="0">
                <a:solidFill>
                  <a:schemeClr val="tx2"/>
                </a:solidFill>
              </a:rPr>
              <a:t>Target: Spaced-repetition review</a:t>
            </a:r>
            <a:endParaRPr lang="en-US" sz="1400" dirty="0"/>
          </a:p>
        </p:txBody>
      </p:sp>
      <p:sp>
        <p:nvSpPr>
          <p:cNvPr id="20" name="Shape 17"/>
          <p:cNvSpPr/>
          <p:nvPr/>
        </p:nvSpPr>
        <p:spPr>
          <a:xfrm>
            <a:off x="5257800" y="4343400"/>
            <a:ext cx="1645920" cy="411480"/>
          </a:xfrm>
          <a:prstGeom prst="roundRect">
            <a:avLst>
              <a:gd name="adj" fmla="val 17778"/>
            </a:avLst>
          </a:prstGeom>
          <a:solidFill>
            <a:schemeClr val="accent3"/>
          </a:solidFill>
          <a:ln w="12700">
            <a:solidFill>
              <a:schemeClr val="accent3"/>
            </a:solidFill>
            <a:prstDash val="solid"/>
          </a:ln>
        </p:spPr>
      </p:sp>
      <p:sp>
        <p:nvSpPr>
          <p:cNvPr id="21" name="Text 18"/>
          <p:cNvSpPr txBox="1"/>
          <p:nvPr/>
        </p:nvSpPr>
        <p:spPr>
          <a:xfrm>
            <a:off x="5257800" y="4343400"/>
            <a:ext cx="1645920" cy="411480"/>
          </a:xfrm>
          <a:prstGeom prst="rect">
            <a:avLst/>
          </a:prstGeom>
          <a:noFill/>
          <a:ln/>
        </p:spPr>
        <p:txBody>
          <a:bodyPr wrap="square" lIns="0" tIns="0" rIns="0" bIns="0" rtlCol="0" anchor="ctr"/>
          <a:lstStyle/>
          <a:p>
            <a:pPr algn="ctr" indent="0" marL="0">
              <a:buNone/>
            </a:pPr>
            <a:r>
              <a:rPr lang="en-US" sz="1400" b="1" dirty="0">
                <a:solidFill>
                  <a:schemeClr val="bg1"/>
                </a:solidFill>
              </a:rPr>
              <a:t>Met</a:t>
            </a:r>
            <a:endParaRPr lang="en-US" sz="1400" dirty="0"/>
          </a:p>
        </p:txBody>
      </p:sp>
      <p:sp>
        <p:nvSpPr>
          <p:cNvPr id="22" name="Shape 19"/>
          <p:cNvSpPr/>
          <p:nvPr/>
        </p:nvSpPr>
        <p:spPr>
          <a:xfrm>
            <a:off x="7269480" y="1463040"/>
            <a:ext cx="2103120" cy="3566160"/>
          </a:xfrm>
          <a:prstGeom prst="roundRect">
            <a:avLst>
              <a:gd name="adj" fmla="val 5217"/>
            </a:avLst>
          </a:prstGeom>
          <a:solidFill>
            <a:schemeClr val="bg2"/>
          </a:solidFill>
          <a:ln w="12700">
            <a:solidFill>
              <a:schemeClr val="bg2"/>
            </a:solidFill>
            <a:prstDash val="solid"/>
          </a:ln>
        </p:spPr>
      </p:sp>
      <p:sp>
        <p:nvSpPr>
          <p:cNvPr id="23" name="Text 20"/>
          <p:cNvSpPr txBox="1"/>
          <p:nvPr/>
        </p:nvSpPr>
        <p:spPr>
          <a:xfrm>
            <a:off x="7498080" y="1691640"/>
            <a:ext cx="13716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O4</a:t>
            </a:r>
            <a:endParaRPr lang="en-US" sz="2600" dirty="0"/>
          </a:p>
        </p:txBody>
      </p:sp>
      <p:sp>
        <p:nvSpPr>
          <p:cNvPr id="24" name="Text 21"/>
          <p:cNvSpPr txBox="1"/>
          <p:nvPr/>
        </p:nvSpPr>
        <p:spPr>
          <a:xfrm>
            <a:off x="7498080" y="2286000"/>
            <a:ext cx="1645920" cy="1005840"/>
          </a:xfrm>
          <a:prstGeom prst="rect">
            <a:avLst/>
          </a:prstGeom>
          <a:noFill/>
          <a:ln/>
        </p:spPr>
        <p:txBody>
          <a:bodyPr wrap="square" lIns="0" tIns="0" rIns="0" bIns="0" rtlCol="0" anchor="t"/>
          <a:lstStyle/>
          <a:p>
            <a:pPr indent="0" marL="0">
              <a:buNone/>
            </a:pPr>
            <a:r>
              <a:rPr lang="en-US" sz="1700" b="1" dirty="0">
                <a:solidFill>
                  <a:schemeClr val="tx1"/>
                </a:solidFill>
              </a:rPr>
              <a:t>Phone + offline</a:t>
            </a:r>
            <a:endParaRPr lang="en-US" sz="1700" dirty="0"/>
          </a:p>
        </p:txBody>
      </p:sp>
      <p:sp>
        <p:nvSpPr>
          <p:cNvPr id="25" name="Text 22"/>
          <p:cNvSpPr txBox="1"/>
          <p:nvPr/>
        </p:nvSpPr>
        <p:spPr>
          <a:xfrm>
            <a:off x="7498080" y="3337560"/>
            <a:ext cx="1645920" cy="731520"/>
          </a:xfrm>
          <a:prstGeom prst="rect">
            <a:avLst/>
          </a:prstGeom>
          <a:noFill/>
          <a:ln/>
        </p:spPr>
        <p:txBody>
          <a:bodyPr wrap="square" lIns="0" tIns="0" rIns="0" bIns="0" rtlCol="0" anchor="t"/>
          <a:lstStyle/>
          <a:p>
            <a:pPr indent="0" marL="0">
              <a:buNone/>
            </a:pPr>
            <a:r>
              <a:rPr lang="en-US" sz="1400" dirty="0">
                <a:solidFill>
                  <a:schemeClr val="tx2"/>
                </a:solidFill>
              </a:rPr>
              <a:t>Target: Installable PWA</a:t>
            </a:r>
            <a:endParaRPr lang="en-US" sz="1400" dirty="0"/>
          </a:p>
        </p:txBody>
      </p:sp>
      <p:sp>
        <p:nvSpPr>
          <p:cNvPr id="26" name="Shape 23"/>
          <p:cNvSpPr/>
          <p:nvPr/>
        </p:nvSpPr>
        <p:spPr>
          <a:xfrm>
            <a:off x="7498080" y="4343400"/>
            <a:ext cx="1645920" cy="411480"/>
          </a:xfrm>
          <a:prstGeom prst="roundRect">
            <a:avLst>
              <a:gd name="adj" fmla="val 17778"/>
            </a:avLst>
          </a:prstGeom>
          <a:solidFill>
            <a:schemeClr val="accent3"/>
          </a:solidFill>
          <a:ln w="12700">
            <a:solidFill>
              <a:schemeClr val="accent3"/>
            </a:solidFill>
            <a:prstDash val="solid"/>
          </a:ln>
        </p:spPr>
      </p:sp>
      <p:sp>
        <p:nvSpPr>
          <p:cNvPr id="27" name="Text 24"/>
          <p:cNvSpPr txBox="1"/>
          <p:nvPr/>
        </p:nvSpPr>
        <p:spPr>
          <a:xfrm>
            <a:off x="7498080" y="4343400"/>
            <a:ext cx="1645920" cy="411480"/>
          </a:xfrm>
          <a:prstGeom prst="rect">
            <a:avLst/>
          </a:prstGeom>
          <a:noFill/>
          <a:ln/>
        </p:spPr>
        <p:txBody>
          <a:bodyPr wrap="square" lIns="0" tIns="0" rIns="0" bIns="0" rtlCol="0" anchor="ctr"/>
          <a:lstStyle/>
          <a:p>
            <a:pPr algn="ctr" indent="0" marL="0">
              <a:buNone/>
            </a:pPr>
            <a:r>
              <a:rPr lang="en-US" sz="1400" b="1" dirty="0">
                <a:solidFill>
                  <a:schemeClr val="bg1"/>
                </a:solidFill>
              </a:rPr>
              <a:t>Met</a:t>
            </a:r>
            <a:endParaRPr lang="en-US" sz="1400" dirty="0"/>
          </a:p>
        </p:txBody>
      </p:sp>
      <p:sp>
        <p:nvSpPr>
          <p:cNvPr id="28" name="Shape 25"/>
          <p:cNvSpPr/>
          <p:nvPr/>
        </p:nvSpPr>
        <p:spPr>
          <a:xfrm>
            <a:off x="9509760" y="1463040"/>
            <a:ext cx="2103120" cy="3566160"/>
          </a:xfrm>
          <a:prstGeom prst="roundRect">
            <a:avLst>
              <a:gd name="adj" fmla="val 5217"/>
            </a:avLst>
          </a:prstGeom>
          <a:solidFill>
            <a:schemeClr val="bg2"/>
          </a:solidFill>
          <a:ln w="12700">
            <a:solidFill>
              <a:schemeClr val="bg2"/>
            </a:solidFill>
            <a:prstDash val="solid"/>
          </a:ln>
        </p:spPr>
      </p:sp>
      <p:sp>
        <p:nvSpPr>
          <p:cNvPr id="29" name="Text 26"/>
          <p:cNvSpPr txBox="1"/>
          <p:nvPr/>
        </p:nvSpPr>
        <p:spPr>
          <a:xfrm>
            <a:off x="9738360" y="1691640"/>
            <a:ext cx="13716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O5</a:t>
            </a:r>
            <a:endParaRPr lang="en-US" sz="2600" dirty="0"/>
          </a:p>
        </p:txBody>
      </p:sp>
      <p:sp>
        <p:nvSpPr>
          <p:cNvPr id="30" name="Text 27"/>
          <p:cNvSpPr txBox="1"/>
          <p:nvPr/>
        </p:nvSpPr>
        <p:spPr>
          <a:xfrm>
            <a:off x="9738360" y="2286000"/>
            <a:ext cx="1645920" cy="1005840"/>
          </a:xfrm>
          <a:prstGeom prst="rect">
            <a:avLst/>
          </a:prstGeom>
          <a:noFill/>
          <a:ln/>
        </p:spPr>
        <p:txBody>
          <a:bodyPr wrap="square" lIns="0" tIns="0" rIns="0" bIns="0" rtlCol="0" anchor="t"/>
          <a:lstStyle/>
          <a:p>
            <a:pPr indent="0" marL="0">
              <a:buNone/>
            </a:pPr>
            <a:r>
              <a:rPr lang="en-US" sz="1700" b="1" dirty="0">
                <a:solidFill>
                  <a:schemeClr val="tx1"/>
                </a:solidFill>
              </a:rPr>
              <a:t>Public and free</a:t>
            </a:r>
            <a:endParaRPr lang="en-US" sz="1700" dirty="0"/>
          </a:p>
        </p:txBody>
      </p:sp>
      <p:sp>
        <p:nvSpPr>
          <p:cNvPr id="31" name="Text 28"/>
          <p:cNvSpPr txBox="1"/>
          <p:nvPr/>
        </p:nvSpPr>
        <p:spPr>
          <a:xfrm>
            <a:off x="9738360" y="3337560"/>
            <a:ext cx="1645920" cy="731520"/>
          </a:xfrm>
          <a:prstGeom prst="rect">
            <a:avLst/>
          </a:prstGeom>
          <a:noFill/>
          <a:ln/>
        </p:spPr>
        <p:txBody>
          <a:bodyPr wrap="square" lIns="0" tIns="0" rIns="0" bIns="0" rtlCol="0" anchor="t"/>
          <a:lstStyle/>
          <a:p>
            <a:pPr indent="0" marL="0">
              <a:buNone/>
            </a:pPr>
            <a:r>
              <a:rPr lang="en-US" sz="1400" dirty="0">
                <a:solidFill>
                  <a:schemeClr val="tx2"/>
                </a:solidFill>
              </a:rPr>
              <a:t>Target: Live on Vercel</a:t>
            </a:r>
            <a:endParaRPr lang="en-US" sz="1400" dirty="0"/>
          </a:p>
        </p:txBody>
      </p:sp>
      <p:sp>
        <p:nvSpPr>
          <p:cNvPr id="32" name="Shape 29"/>
          <p:cNvSpPr/>
          <p:nvPr/>
        </p:nvSpPr>
        <p:spPr>
          <a:xfrm>
            <a:off x="9738360" y="4343400"/>
            <a:ext cx="1645920" cy="411480"/>
          </a:xfrm>
          <a:prstGeom prst="roundRect">
            <a:avLst>
              <a:gd name="adj" fmla="val 17778"/>
            </a:avLst>
          </a:prstGeom>
          <a:solidFill>
            <a:schemeClr val="accent5"/>
          </a:solidFill>
          <a:ln w="12700">
            <a:solidFill>
              <a:schemeClr val="accent5"/>
            </a:solidFill>
            <a:prstDash val="solid"/>
          </a:ln>
        </p:spPr>
      </p:sp>
      <p:sp>
        <p:nvSpPr>
          <p:cNvPr id="33" name="Text 30"/>
          <p:cNvSpPr txBox="1"/>
          <p:nvPr/>
        </p:nvSpPr>
        <p:spPr>
          <a:xfrm>
            <a:off x="9738360" y="4343400"/>
            <a:ext cx="1645920" cy="411480"/>
          </a:xfrm>
          <a:prstGeom prst="rect">
            <a:avLst/>
          </a:prstGeom>
          <a:noFill/>
          <a:ln/>
        </p:spPr>
        <p:txBody>
          <a:bodyPr wrap="square" lIns="0" tIns="0" rIns="0" bIns="0" rtlCol="0" anchor="ctr"/>
          <a:lstStyle/>
          <a:p>
            <a:pPr algn="ctr" indent="0" marL="0">
              <a:buNone/>
            </a:pPr>
            <a:r>
              <a:rPr lang="en-US" sz="1400" b="1" dirty="0">
                <a:solidFill>
                  <a:schemeClr val="tx1"/>
                </a:solidFill>
              </a:rPr>
              <a:t>Open</a:t>
            </a:r>
            <a:endParaRPr lang="en-US" sz="1400" dirty="0"/>
          </a:p>
        </p:txBody>
      </p:sp>
      <p:sp>
        <p:nvSpPr>
          <p:cNvPr id="34" name="Text 31"/>
          <p:cNvSpPr txBox="1"/>
          <p:nvPr/>
        </p:nvSpPr>
        <p:spPr>
          <a:xfrm>
            <a:off x="548640" y="5394960"/>
            <a:ext cx="10972800" cy="457200"/>
          </a:xfrm>
          <a:prstGeom prst="rect">
            <a:avLst/>
          </a:prstGeom>
          <a:noFill/>
          <a:ln/>
        </p:spPr>
        <p:txBody>
          <a:bodyPr wrap="square" lIns="0" tIns="0" rIns="0" bIns="0" rtlCol="0" anchor="t"/>
          <a:lstStyle/>
          <a:p>
            <a:pPr indent="0" marL="0">
              <a:buNone/>
            </a:pPr>
            <a:r>
              <a:rPr lang="en-US" sz="1500" dirty="0">
                <a:solidFill>
                  <a:schemeClr val="tx2"/>
                </a:solidFill>
              </a:rPr>
              <a:t>Budget €0 · Constraint: no backend, all progress stays in the learner's browser · Sponsor: course lecturer</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Scope: what we build — and what we don't</a:t>
            </a:r>
            <a:endParaRPr lang="en-US" sz="3400" dirty="0"/>
          </a:p>
        </p:txBody>
      </p:sp>
      <p:sp>
        <p:nvSpPr>
          <p:cNvPr id="4" name="Shape 1"/>
          <p:cNvSpPr/>
          <p:nvPr/>
        </p:nvSpPr>
        <p:spPr>
          <a:xfrm>
            <a:off x="548640" y="1371600"/>
            <a:ext cx="6583680" cy="4663440"/>
          </a:xfrm>
          <a:prstGeom prst="roundRect">
            <a:avLst>
              <a:gd name="adj" fmla="val 2353"/>
            </a:avLst>
          </a:prstGeom>
          <a:solidFill>
            <a:schemeClr val="bg2"/>
          </a:solidFill>
          <a:ln w="12700">
            <a:solidFill>
              <a:schemeClr val="bg2"/>
            </a:solidFill>
            <a:prstDash val="solid"/>
          </a:ln>
        </p:spPr>
      </p:sp>
      <p:sp>
        <p:nvSpPr>
          <p:cNvPr id="5" name="Text 2"/>
          <p:cNvSpPr txBox="1"/>
          <p:nvPr/>
        </p:nvSpPr>
        <p:spPr>
          <a:xfrm>
            <a:off x="868680" y="1600200"/>
            <a:ext cx="5486400" cy="457200"/>
          </a:xfrm>
          <a:prstGeom prst="rect">
            <a:avLst/>
          </a:prstGeom>
          <a:noFill/>
          <a:ln/>
        </p:spPr>
        <p:txBody>
          <a:bodyPr wrap="square" lIns="0" tIns="0" rIns="0" bIns="0" rtlCol="0" anchor="t"/>
          <a:lstStyle/>
          <a:p>
            <a:pPr indent="0" marL="0">
              <a:buNone/>
            </a:pPr>
            <a:r>
              <a:rPr lang="en-US" sz="2200" b="1" dirty="0">
                <a:solidFill>
                  <a:schemeClr val="accent3"/>
                </a:solidFill>
              </a:rPr>
              <a:t>In scope</a:t>
            </a:r>
            <a:endParaRPr lang="en-US" sz="2200" dirty="0"/>
          </a:p>
        </p:txBody>
      </p:sp>
      <p:sp>
        <p:nvSpPr>
          <p:cNvPr id="6" name="Text 3"/>
          <p:cNvSpPr txBox="1"/>
          <p:nvPr/>
        </p:nvSpPr>
        <p:spPr>
          <a:xfrm>
            <a:off x="868680" y="2148840"/>
            <a:ext cx="6035040" cy="3657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120 lessons: words, grammar, dialogue</a:t>
            </a:r>
            <a:endParaRPr lang="en-US" sz="1600" dirty="0"/>
          </a:p>
          <a:p>
            <a:pPr marL="342900" indent="-342900">
              <a:spcAft>
                <a:spcPts val="800"/>
              </a:spcAft>
              <a:buSzPct val="100000"/>
              <a:buChar char="•"/>
            </a:pPr>
            <a:r>
              <a:rPr lang="en-US" sz="1600" dirty="0">
                <a:solidFill>
                  <a:schemeClr val="tx1"/>
                </a:solidFill>
              </a:rPr>
              <a:t>Lesson flow + exercises</a:t>
            </a:r>
            <a:endParaRPr lang="en-US" sz="1600" dirty="0"/>
          </a:p>
          <a:p>
            <a:pPr marL="342900" indent="-342900">
              <a:spcAft>
                <a:spcPts val="800"/>
              </a:spcAft>
              <a:buSzPct val="100000"/>
              <a:buChar char="•"/>
            </a:pPr>
            <a:r>
              <a:rPr lang="en-US" sz="1600" dirty="0">
                <a:solidFill>
                  <a:schemeClr val="tx1"/>
                </a:solidFill>
              </a:rPr>
              <a:t>Spaced-repetition review</a:t>
            </a:r>
            <a:endParaRPr lang="en-US" sz="1600" dirty="0"/>
          </a:p>
          <a:p>
            <a:pPr marL="342900" indent="-342900">
              <a:spcAft>
                <a:spcPts val="800"/>
              </a:spcAft>
              <a:buSzPct val="100000"/>
              <a:buChar char="•"/>
            </a:pPr>
            <a:r>
              <a:rPr lang="en-US" sz="1600" dirty="0">
                <a:solidFill>
                  <a:schemeClr val="tx1"/>
                </a:solidFill>
              </a:rPr>
              <a:t>My words, home dashboard, streak</a:t>
            </a:r>
            <a:endParaRPr lang="en-US" sz="1600" dirty="0"/>
          </a:p>
          <a:p>
            <a:pPr marL="342900" indent="-342900">
              <a:spcAft>
                <a:spcPts val="800"/>
              </a:spcAft>
              <a:buSzPct val="100000"/>
              <a:buChar char="•"/>
            </a:pPr>
            <a:r>
              <a:rPr lang="en-US" sz="1600" dirty="0">
                <a:solidFill>
                  <a:schemeClr val="tx1"/>
                </a:solidFill>
              </a:rPr>
              <a:t>Pronunciation page + listen buttons</a:t>
            </a:r>
            <a:endParaRPr lang="en-US" sz="1600" dirty="0"/>
          </a:p>
          <a:p>
            <a:pPr marL="342900" indent="-342900">
              <a:spcAft>
                <a:spcPts val="800"/>
              </a:spcAft>
              <a:buSzPct val="100000"/>
              <a:buChar char="•"/>
            </a:pPr>
            <a:r>
              <a:rPr lang="en-US" sz="1600" dirty="0">
                <a:solidFill>
                  <a:schemeClr val="tx1"/>
                </a:solidFill>
              </a:rPr>
              <a:t>PWA: install on phone, offline</a:t>
            </a:r>
            <a:endParaRPr lang="en-US" sz="1600" dirty="0"/>
          </a:p>
          <a:p>
            <a:pPr marL="342900" indent="-342900">
              <a:spcAft>
                <a:spcPts val="800"/>
              </a:spcAft>
              <a:buSzPct val="100000"/>
              <a:buChar char="•"/>
            </a:pPr>
            <a:r>
              <a:rPr lang="en-US" sz="1600" dirty="0">
                <a:solidFill>
                  <a:schemeClr val="tx1"/>
                </a:solidFill>
              </a:rPr>
              <a:t>Content tooling, tests, deployment</a:t>
            </a:r>
            <a:endParaRPr lang="en-US" sz="1600" dirty="0"/>
          </a:p>
        </p:txBody>
      </p:sp>
      <p:sp>
        <p:nvSpPr>
          <p:cNvPr id="7" name="Shape 4"/>
          <p:cNvSpPr/>
          <p:nvPr/>
        </p:nvSpPr>
        <p:spPr>
          <a:xfrm>
            <a:off x="7406640" y="1371600"/>
            <a:ext cx="4251960" cy="4663440"/>
          </a:xfrm>
          <a:prstGeom prst="roundRect">
            <a:avLst>
              <a:gd name="adj" fmla="val 2581"/>
            </a:avLst>
          </a:prstGeom>
          <a:solidFill>
            <a:schemeClr val="bg2"/>
          </a:solidFill>
          <a:ln w="12700">
            <a:solidFill>
              <a:schemeClr val="bg2"/>
            </a:solidFill>
            <a:prstDash val="solid"/>
          </a:ln>
        </p:spPr>
      </p:sp>
      <p:sp>
        <p:nvSpPr>
          <p:cNvPr id="8" name="Text 5"/>
          <p:cNvSpPr txBox="1"/>
          <p:nvPr/>
        </p:nvSpPr>
        <p:spPr>
          <a:xfrm>
            <a:off x="7726680" y="1600200"/>
            <a:ext cx="3657600" cy="457200"/>
          </a:xfrm>
          <a:prstGeom prst="rect">
            <a:avLst/>
          </a:prstGeom>
          <a:noFill/>
          <a:ln/>
        </p:spPr>
        <p:txBody>
          <a:bodyPr wrap="square" lIns="0" tIns="0" rIns="0" bIns="0" rtlCol="0" anchor="t"/>
          <a:lstStyle/>
          <a:p>
            <a:pPr indent="0" marL="0">
              <a:buNone/>
            </a:pPr>
            <a:r>
              <a:rPr lang="en-US" sz="2200" b="1" dirty="0">
                <a:solidFill>
                  <a:schemeClr val="accent4"/>
                </a:solidFill>
              </a:rPr>
              <a:t>Out of scope</a:t>
            </a:r>
            <a:endParaRPr lang="en-US" sz="2200" dirty="0"/>
          </a:p>
        </p:txBody>
      </p:sp>
      <p:sp>
        <p:nvSpPr>
          <p:cNvPr id="9" name="Text 6"/>
          <p:cNvSpPr txBox="1"/>
          <p:nvPr/>
        </p:nvSpPr>
        <p:spPr>
          <a:xfrm>
            <a:off x="7726680" y="2148840"/>
            <a:ext cx="3657600" cy="3657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Accounts / sync</a:t>
            </a:r>
            <a:endParaRPr lang="en-US" sz="1600" dirty="0"/>
          </a:p>
          <a:p>
            <a:pPr marL="342900" indent="-342900">
              <a:spcAft>
                <a:spcPts val="800"/>
              </a:spcAft>
              <a:buSzPct val="100000"/>
              <a:buChar char="•"/>
            </a:pPr>
            <a:r>
              <a:rPr lang="en-US" sz="1600" dirty="0">
                <a:solidFill>
                  <a:schemeClr val="tx2"/>
                </a:solidFill>
              </a:rPr>
              <a:t>Payments, ads</a:t>
            </a:r>
            <a:endParaRPr lang="en-US" sz="1600" dirty="0"/>
          </a:p>
          <a:p>
            <a:pPr marL="342900" indent="-342900">
              <a:spcAft>
                <a:spcPts val="800"/>
              </a:spcAft>
              <a:buSzPct val="100000"/>
              <a:buChar char="•"/>
            </a:pPr>
            <a:r>
              <a:rPr lang="en-US" sz="1600" dirty="0">
                <a:solidFill>
                  <a:schemeClr val="tx2"/>
                </a:solidFill>
              </a:rPr>
              <a:t>Native apps</a:t>
            </a:r>
            <a:endParaRPr lang="en-US" sz="1600" dirty="0"/>
          </a:p>
          <a:p>
            <a:pPr marL="342900" indent="-342900">
              <a:spcAft>
                <a:spcPts val="800"/>
              </a:spcAft>
              <a:buSzPct val="100000"/>
              <a:buChar char="•"/>
            </a:pPr>
            <a:r>
              <a:rPr lang="en-US" sz="1600" dirty="0">
                <a:solidFill>
                  <a:schemeClr val="tx2"/>
                </a:solidFill>
              </a:rPr>
              <a:t>B1 and higher</a:t>
            </a:r>
            <a:endParaRPr lang="en-US" sz="1600" dirty="0"/>
          </a:p>
          <a:p>
            <a:pPr marL="342900" indent="-342900">
              <a:spcAft>
                <a:spcPts val="800"/>
              </a:spcAft>
              <a:buSzPct val="100000"/>
              <a:buChar char="•"/>
            </a:pPr>
            <a:r>
              <a:rPr lang="en-US" sz="1600" dirty="0">
                <a:solidFill>
                  <a:schemeClr val="tx2"/>
                </a:solidFill>
              </a:rPr>
              <a:t>Human audio</a:t>
            </a:r>
            <a:endParaRPr lang="en-US" sz="1600" dirty="0"/>
          </a:p>
          <a:p>
            <a:pPr marL="342900" indent="-342900">
              <a:spcAft>
                <a:spcPts val="800"/>
              </a:spcAft>
              <a:buSzPct val="100000"/>
              <a:buChar char="•"/>
            </a:pPr>
            <a:r>
              <a:rPr lang="en-US" sz="1600" dirty="0">
                <a:solidFill>
                  <a:schemeClr val="tx2"/>
                </a:solidFill>
              </a:rPr>
              <a:t>Teacher dashboards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Stakeholders: power × interest</a:t>
            </a:r>
            <a:endParaRPr lang="en-US" sz="3400" dirty="0"/>
          </a:p>
        </p:txBody>
      </p:sp>
      <p:sp>
        <p:nvSpPr>
          <p:cNvPr id="4" name="Shape 1"/>
          <p:cNvSpPr/>
          <p:nvPr/>
        </p:nvSpPr>
        <p:spPr>
          <a:xfrm>
            <a:off x="1463040" y="1371600"/>
            <a:ext cx="4937760" cy="2240280"/>
          </a:xfrm>
          <a:prstGeom prst="roundRect">
            <a:avLst>
              <a:gd name="adj" fmla="val 4898"/>
            </a:avLst>
          </a:prstGeom>
          <a:solidFill>
            <a:schemeClr val="bg2"/>
          </a:solidFill>
          <a:ln w="12700">
            <a:solidFill>
              <a:schemeClr val="bg2"/>
            </a:solidFill>
            <a:prstDash val="solid"/>
          </a:ln>
        </p:spPr>
      </p:sp>
      <p:sp>
        <p:nvSpPr>
          <p:cNvPr id="5" name="Text 2"/>
          <p:cNvSpPr txBox="1"/>
          <p:nvPr/>
        </p:nvSpPr>
        <p:spPr>
          <a:xfrm>
            <a:off x="1737360" y="1645920"/>
            <a:ext cx="4389120" cy="457200"/>
          </a:xfrm>
          <a:prstGeom prst="rect">
            <a:avLst/>
          </a:prstGeom>
          <a:noFill/>
          <a:ln/>
        </p:spPr>
        <p:txBody>
          <a:bodyPr wrap="square" lIns="0" tIns="0" rIns="0" bIns="0" rtlCol="0" anchor="t"/>
          <a:lstStyle/>
          <a:p>
            <a:pPr indent="0" marL="0">
              <a:buNone/>
            </a:pPr>
            <a:r>
              <a:rPr lang="en-US" sz="2000" b="1" dirty="0">
                <a:solidFill>
                  <a:schemeClr val="tx1"/>
                </a:solidFill>
              </a:rPr>
              <a:t>Keep satisfied</a:t>
            </a:r>
            <a:endParaRPr lang="en-US" sz="2000" dirty="0"/>
          </a:p>
        </p:txBody>
      </p:sp>
      <p:sp>
        <p:nvSpPr>
          <p:cNvPr id="6" name="Text 3"/>
          <p:cNvSpPr txBox="1"/>
          <p:nvPr/>
        </p:nvSpPr>
        <p:spPr>
          <a:xfrm>
            <a:off x="1737360" y="2240280"/>
            <a:ext cx="4389120" cy="1097280"/>
          </a:xfrm>
          <a:prstGeom prst="rect">
            <a:avLst/>
          </a:prstGeom>
          <a:noFill/>
          <a:ln/>
        </p:spPr>
        <p:txBody>
          <a:bodyPr wrap="square" lIns="0" tIns="0" rIns="0" bIns="0" rtlCol="0" anchor="t"/>
          <a:lstStyle/>
          <a:p>
            <a:pPr indent="0" marL="0">
              <a:buNone/>
            </a:pPr>
            <a:r>
              <a:rPr lang="en-US" sz="1600" dirty="0">
                <a:solidFill>
                  <a:schemeClr val="tx1"/>
                </a:solidFill>
              </a:rPr>
              <a:t>Hosting provider (Vercel)</a:t>
            </a:r>
            <a:endParaRPr lang="en-US" sz="1600" dirty="0"/>
          </a:p>
          <a:p>
            <a:pPr indent="0" marL="0">
              <a:buNone/>
            </a:pPr>
            <a:r>
              <a:rPr lang="en-US" sz="1600" dirty="0">
                <a:solidFill>
                  <a:schemeClr val="tx1"/>
                </a:solidFill>
              </a:rPr>
              <a:t>Stay within free tier</a:t>
            </a:r>
            <a:endParaRPr lang="en-US" sz="1600" dirty="0"/>
          </a:p>
        </p:txBody>
      </p:sp>
      <p:sp>
        <p:nvSpPr>
          <p:cNvPr id="7" name="Shape 4"/>
          <p:cNvSpPr/>
          <p:nvPr/>
        </p:nvSpPr>
        <p:spPr>
          <a:xfrm>
            <a:off x="6537960" y="1371600"/>
            <a:ext cx="4937760" cy="2240280"/>
          </a:xfrm>
          <a:prstGeom prst="roundRect">
            <a:avLst>
              <a:gd name="adj" fmla="val 4898"/>
            </a:avLst>
          </a:prstGeom>
          <a:solidFill>
            <a:schemeClr val="accent1"/>
          </a:solidFill>
          <a:ln w="12700">
            <a:solidFill>
              <a:schemeClr val="accent1"/>
            </a:solidFill>
            <a:prstDash val="solid"/>
          </a:ln>
        </p:spPr>
      </p:sp>
      <p:sp>
        <p:nvSpPr>
          <p:cNvPr id="8" name="Text 5"/>
          <p:cNvSpPr txBox="1"/>
          <p:nvPr/>
        </p:nvSpPr>
        <p:spPr>
          <a:xfrm>
            <a:off x="6812280" y="1645920"/>
            <a:ext cx="4389120" cy="457200"/>
          </a:xfrm>
          <a:prstGeom prst="rect">
            <a:avLst/>
          </a:prstGeom>
          <a:noFill/>
          <a:ln/>
        </p:spPr>
        <p:txBody>
          <a:bodyPr wrap="square" lIns="0" tIns="0" rIns="0" bIns="0" rtlCol="0" anchor="t"/>
          <a:lstStyle/>
          <a:p>
            <a:pPr indent="0" marL="0">
              <a:buNone/>
            </a:pPr>
            <a:r>
              <a:rPr lang="en-US" sz="2000" b="1" dirty="0">
                <a:solidFill>
                  <a:schemeClr val="bg1"/>
                </a:solidFill>
              </a:rPr>
              <a:t>Manage closely</a:t>
            </a:r>
            <a:endParaRPr lang="en-US" sz="2000" dirty="0"/>
          </a:p>
        </p:txBody>
      </p:sp>
      <p:sp>
        <p:nvSpPr>
          <p:cNvPr id="9" name="Text 6"/>
          <p:cNvSpPr txBox="1"/>
          <p:nvPr/>
        </p:nvSpPr>
        <p:spPr>
          <a:xfrm>
            <a:off x="6812280" y="2240280"/>
            <a:ext cx="4389120" cy="1097280"/>
          </a:xfrm>
          <a:prstGeom prst="rect">
            <a:avLst/>
          </a:prstGeom>
          <a:noFill/>
          <a:ln/>
        </p:spPr>
        <p:txBody>
          <a:bodyPr wrap="square" lIns="0" tIns="0" rIns="0" bIns="0" rtlCol="0" anchor="t"/>
          <a:lstStyle/>
          <a:p>
            <a:pPr indent="0" marL="0">
              <a:buNone/>
            </a:pPr>
            <a:r>
              <a:rPr lang="en-US" sz="1600" dirty="0">
                <a:solidFill>
                  <a:schemeClr val="bg1"/>
                </a:solidFill>
              </a:rPr>
              <a:t>Lecturer / examiner (sponsor)</a:t>
            </a:r>
            <a:endParaRPr lang="en-US" sz="1600" dirty="0"/>
          </a:p>
          <a:p>
            <a:pPr indent="0" marL="0">
              <a:buNone/>
            </a:pPr>
            <a:r>
              <a:rPr lang="en-US" sz="1600" dirty="0">
                <a:solidFill>
                  <a:schemeClr val="bg1"/>
                </a:solidFill>
              </a:rPr>
              <a:t>Status updates, sign-off</a:t>
            </a:r>
            <a:endParaRPr lang="en-US" sz="1600" dirty="0"/>
          </a:p>
        </p:txBody>
      </p:sp>
      <p:sp>
        <p:nvSpPr>
          <p:cNvPr id="10" name="Shape 7"/>
          <p:cNvSpPr/>
          <p:nvPr/>
        </p:nvSpPr>
        <p:spPr>
          <a:xfrm>
            <a:off x="1463040" y="3749040"/>
            <a:ext cx="4937760" cy="2240280"/>
          </a:xfrm>
          <a:prstGeom prst="roundRect">
            <a:avLst>
              <a:gd name="adj" fmla="val 4898"/>
            </a:avLst>
          </a:prstGeom>
          <a:solidFill>
            <a:schemeClr val="bg2"/>
          </a:solidFill>
          <a:ln w="12700">
            <a:solidFill>
              <a:schemeClr val="bg2"/>
            </a:solidFill>
            <a:prstDash val="solid"/>
          </a:ln>
        </p:spPr>
      </p:sp>
      <p:sp>
        <p:nvSpPr>
          <p:cNvPr id="11" name="Text 8"/>
          <p:cNvSpPr txBox="1"/>
          <p:nvPr/>
        </p:nvSpPr>
        <p:spPr>
          <a:xfrm>
            <a:off x="1737360" y="4023360"/>
            <a:ext cx="4389120" cy="457200"/>
          </a:xfrm>
          <a:prstGeom prst="rect">
            <a:avLst/>
          </a:prstGeom>
          <a:noFill/>
          <a:ln/>
        </p:spPr>
        <p:txBody>
          <a:bodyPr wrap="square" lIns="0" tIns="0" rIns="0" bIns="0" rtlCol="0" anchor="t"/>
          <a:lstStyle/>
          <a:p>
            <a:pPr indent="0" marL="0">
              <a:buNone/>
            </a:pPr>
            <a:r>
              <a:rPr lang="en-US" sz="2000" b="1" dirty="0">
                <a:solidFill>
                  <a:schemeClr val="tx1"/>
                </a:solidFill>
              </a:rPr>
              <a:t>Monitor</a:t>
            </a:r>
            <a:endParaRPr lang="en-US" sz="2000" dirty="0"/>
          </a:p>
        </p:txBody>
      </p:sp>
      <p:sp>
        <p:nvSpPr>
          <p:cNvPr id="12" name="Text 9"/>
          <p:cNvSpPr txBox="1"/>
          <p:nvPr/>
        </p:nvSpPr>
        <p:spPr>
          <a:xfrm>
            <a:off x="1737360" y="4617720"/>
            <a:ext cx="4389120" cy="1097280"/>
          </a:xfrm>
          <a:prstGeom prst="rect">
            <a:avLst/>
          </a:prstGeom>
          <a:noFill/>
          <a:ln/>
        </p:spPr>
        <p:txBody>
          <a:bodyPr wrap="square" lIns="0" tIns="0" rIns="0" bIns="0" rtlCol="0" anchor="t"/>
          <a:lstStyle/>
          <a:p>
            <a:pPr indent="0" marL="0">
              <a:buNone/>
            </a:pPr>
            <a:r>
              <a:rPr lang="en-US" sz="1600" dirty="0">
                <a:solidFill>
                  <a:schemeClr val="tx1"/>
                </a:solidFill>
              </a:rPr>
              <a:t>Open-data providers</a:t>
            </a:r>
            <a:endParaRPr lang="en-US" sz="1600" dirty="0"/>
          </a:p>
          <a:p>
            <a:pPr indent="0" marL="0">
              <a:buNone/>
            </a:pPr>
            <a:r>
              <a:rPr lang="en-US" sz="1600" dirty="0">
                <a:solidFill>
                  <a:schemeClr val="tx1"/>
                </a:solidFill>
              </a:rPr>
              <a:t>CC BY-SA attribution</a:t>
            </a:r>
            <a:endParaRPr lang="en-US" sz="1600" dirty="0"/>
          </a:p>
        </p:txBody>
      </p:sp>
      <p:sp>
        <p:nvSpPr>
          <p:cNvPr id="13" name="Shape 10"/>
          <p:cNvSpPr/>
          <p:nvPr/>
        </p:nvSpPr>
        <p:spPr>
          <a:xfrm>
            <a:off x="6537960" y="3749040"/>
            <a:ext cx="4937760" cy="2240280"/>
          </a:xfrm>
          <a:prstGeom prst="roundRect">
            <a:avLst>
              <a:gd name="adj" fmla="val 4898"/>
            </a:avLst>
          </a:prstGeom>
          <a:solidFill>
            <a:schemeClr val="bg2"/>
          </a:solidFill>
          <a:ln w="12700">
            <a:solidFill>
              <a:schemeClr val="bg2"/>
            </a:solidFill>
            <a:prstDash val="solid"/>
          </a:ln>
        </p:spPr>
      </p:sp>
      <p:sp>
        <p:nvSpPr>
          <p:cNvPr id="14" name="Text 11"/>
          <p:cNvSpPr txBox="1"/>
          <p:nvPr/>
        </p:nvSpPr>
        <p:spPr>
          <a:xfrm>
            <a:off x="6812280" y="4023360"/>
            <a:ext cx="4389120" cy="457200"/>
          </a:xfrm>
          <a:prstGeom prst="rect">
            <a:avLst/>
          </a:prstGeom>
          <a:noFill/>
          <a:ln/>
        </p:spPr>
        <p:txBody>
          <a:bodyPr wrap="square" lIns="0" tIns="0" rIns="0" bIns="0" rtlCol="0" anchor="t"/>
          <a:lstStyle/>
          <a:p>
            <a:pPr indent="0" marL="0">
              <a:buNone/>
            </a:pPr>
            <a:r>
              <a:rPr lang="en-US" sz="2000" b="1" dirty="0">
                <a:solidFill>
                  <a:schemeClr val="tx1"/>
                </a:solidFill>
              </a:rPr>
              <a:t>Keep informed</a:t>
            </a:r>
            <a:endParaRPr lang="en-US" sz="2000" dirty="0"/>
          </a:p>
        </p:txBody>
      </p:sp>
      <p:sp>
        <p:nvSpPr>
          <p:cNvPr id="15" name="Text 12"/>
          <p:cNvSpPr txBox="1"/>
          <p:nvPr/>
        </p:nvSpPr>
        <p:spPr>
          <a:xfrm>
            <a:off x="6812280" y="4617720"/>
            <a:ext cx="4389120" cy="1097280"/>
          </a:xfrm>
          <a:prstGeom prst="rect">
            <a:avLst/>
          </a:prstGeom>
          <a:noFill/>
          <a:ln/>
        </p:spPr>
        <p:txBody>
          <a:bodyPr wrap="square" lIns="0" tIns="0" rIns="0" bIns="0" rtlCol="0" anchor="t"/>
          <a:lstStyle/>
          <a:p>
            <a:pPr indent="0" marL="0">
              <a:buNone/>
            </a:pPr>
            <a:r>
              <a:rPr lang="en-US" sz="1600" dirty="0">
                <a:solidFill>
                  <a:schemeClr val="tx1"/>
                </a:solidFill>
              </a:rPr>
              <a:t>Learners, classmates, test users</a:t>
            </a:r>
            <a:endParaRPr lang="en-US" sz="1600" dirty="0"/>
          </a:p>
          <a:p>
            <a:pPr indent="0" marL="0">
              <a:buNone/>
            </a:pPr>
            <a:r>
              <a:rPr lang="en-US" sz="1600" dirty="0">
                <a:solidFill>
                  <a:schemeClr val="tx1"/>
                </a:solidFill>
              </a:rPr>
              <a:t>Live link, feedback</a:t>
            </a:r>
            <a:endParaRPr lang="en-US" sz="1600" dirty="0"/>
          </a:p>
        </p:txBody>
      </p:sp>
      <p:sp>
        <p:nvSpPr>
          <p:cNvPr id="16" name="Text 13"/>
          <p:cNvSpPr txBox="1"/>
          <p:nvPr/>
        </p:nvSpPr>
        <p:spPr>
          <a:xfrm>
            <a:off x="457200" y="2926080"/>
            <a:ext cx="914400" cy="365760"/>
          </a:xfrm>
          <a:prstGeom prst="rect">
            <a:avLst/>
          </a:prstGeom>
          <a:noFill/>
          <a:ln/>
        </p:spPr>
        <p:txBody>
          <a:bodyPr wrap="square" lIns="0" tIns="0" rIns="0" bIns="0" rtlCol="0" anchor="t"/>
          <a:lstStyle/>
          <a:p>
            <a:pPr indent="0" marL="0">
              <a:buNone/>
            </a:pPr>
            <a:r>
              <a:rPr lang="en-US" sz="1400" b="1" dirty="0">
                <a:solidFill>
                  <a:schemeClr val="tx2"/>
                </a:solidFill>
              </a:rPr>
              <a:t>Power ↑</a:t>
            </a:r>
            <a:endParaRPr lang="en-US" sz="1400" dirty="0"/>
          </a:p>
        </p:txBody>
      </p:sp>
      <p:sp>
        <p:nvSpPr>
          <p:cNvPr id="17" name="Text 14"/>
          <p:cNvSpPr txBox="1"/>
          <p:nvPr/>
        </p:nvSpPr>
        <p:spPr>
          <a:xfrm>
            <a:off x="5669280" y="6080760"/>
            <a:ext cx="1828800" cy="274320"/>
          </a:xfrm>
          <a:prstGeom prst="rect">
            <a:avLst/>
          </a:prstGeom>
          <a:noFill/>
          <a:ln/>
        </p:spPr>
        <p:txBody>
          <a:bodyPr wrap="square" lIns="0" tIns="0" rIns="0" bIns="0" rtlCol="0" anchor="t"/>
          <a:lstStyle/>
          <a:p>
            <a:pPr algn="ctr" indent="0" marL="0">
              <a:buNone/>
            </a:pPr>
            <a:r>
              <a:rPr lang="en-US" sz="1400" b="1" dirty="0">
                <a:solidFill>
                  <a:schemeClr val="tx2"/>
                </a:solidFill>
              </a:rPr>
              <a:t>Interest →</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Work breakdown structure</a:t>
            </a:r>
            <a:endParaRPr lang="en-US" sz="3400" dirty="0"/>
          </a:p>
        </p:txBody>
      </p:sp>
      <p:sp>
        <p:nvSpPr>
          <p:cNvPr id="4" name="Shape 1"/>
          <p:cNvSpPr/>
          <p:nvPr/>
        </p:nvSpPr>
        <p:spPr>
          <a:xfrm>
            <a:off x="4727448" y="1234440"/>
            <a:ext cx="2743200" cy="548640"/>
          </a:xfrm>
          <a:prstGeom prst="roundRect">
            <a:avLst>
              <a:gd name="adj" fmla="val 16667"/>
            </a:avLst>
          </a:prstGeom>
          <a:solidFill>
            <a:schemeClr val="tx1"/>
          </a:solidFill>
          <a:ln w="12700">
            <a:solidFill>
              <a:schemeClr val="tx1"/>
            </a:solidFill>
            <a:prstDash val="solid"/>
          </a:ln>
        </p:spPr>
      </p:sp>
      <p:sp>
        <p:nvSpPr>
          <p:cNvPr id="5" name="Text 2"/>
          <p:cNvSpPr txBox="1"/>
          <p:nvPr/>
        </p:nvSpPr>
        <p:spPr>
          <a:xfrm>
            <a:off x="4727448" y="1234440"/>
            <a:ext cx="2743200" cy="548640"/>
          </a:xfrm>
          <a:prstGeom prst="rect">
            <a:avLst/>
          </a:prstGeom>
          <a:noFill/>
          <a:ln/>
        </p:spPr>
        <p:txBody>
          <a:bodyPr wrap="square" lIns="0" tIns="0" rIns="0" bIns="0" rtlCol="0" anchor="ctr"/>
          <a:lstStyle/>
          <a:p>
            <a:pPr algn="ctr" indent="0" marL="0">
              <a:buNone/>
            </a:pPr>
            <a:r>
              <a:rPr lang="en-US" sz="1600" b="1" dirty="0">
                <a:solidFill>
                  <a:schemeClr val="bg1"/>
                </a:solidFill>
              </a:rPr>
              <a:t>1 DailyDutch</a:t>
            </a:r>
            <a:endParaRPr lang="en-US" sz="1600" dirty="0"/>
          </a:p>
        </p:txBody>
      </p:sp>
      <p:sp>
        <p:nvSpPr>
          <p:cNvPr id="6" name="Shape 3"/>
          <p:cNvSpPr/>
          <p:nvPr/>
        </p:nvSpPr>
        <p:spPr>
          <a:xfrm>
            <a:off x="1307592" y="2057400"/>
            <a:ext cx="9656064" cy="0"/>
          </a:xfrm>
          <a:prstGeom prst="line">
            <a:avLst/>
          </a:prstGeom>
          <a:noFill/>
          <a:ln w="15875">
            <a:solidFill>
              <a:schemeClr val="tx2"/>
            </a:solidFill>
            <a:prstDash val="solid"/>
          </a:ln>
        </p:spPr>
      </p:sp>
      <p:sp>
        <p:nvSpPr>
          <p:cNvPr id="7" name="Shape 4"/>
          <p:cNvSpPr/>
          <p:nvPr/>
        </p:nvSpPr>
        <p:spPr>
          <a:xfrm>
            <a:off x="6094476" y="1783080"/>
            <a:ext cx="0" cy="274320"/>
          </a:xfrm>
          <a:prstGeom prst="line">
            <a:avLst/>
          </a:prstGeom>
          <a:noFill/>
          <a:ln w="15875">
            <a:solidFill>
              <a:schemeClr val="tx2"/>
            </a:solidFill>
            <a:prstDash val="solid"/>
          </a:ln>
        </p:spPr>
      </p:sp>
      <p:sp>
        <p:nvSpPr>
          <p:cNvPr id="8" name="Shape 5"/>
          <p:cNvSpPr/>
          <p:nvPr/>
        </p:nvSpPr>
        <p:spPr>
          <a:xfrm>
            <a:off x="1307592" y="2057400"/>
            <a:ext cx="0" cy="274320"/>
          </a:xfrm>
          <a:prstGeom prst="line">
            <a:avLst/>
          </a:prstGeom>
          <a:noFill/>
          <a:ln w="15875">
            <a:solidFill>
              <a:schemeClr val="tx2"/>
            </a:solidFill>
            <a:prstDash val="solid"/>
          </a:ln>
        </p:spPr>
      </p:sp>
      <p:sp>
        <p:nvSpPr>
          <p:cNvPr id="9" name="Shape 6"/>
          <p:cNvSpPr/>
          <p:nvPr/>
        </p:nvSpPr>
        <p:spPr>
          <a:xfrm>
            <a:off x="548640" y="2331720"/>
            <a:ext cx="1517904" cy="3291840"/>
          </a:xfrm>
          <a:prstGeom prst="roundRect">
            <a:avLst>
              <a:gd name="adj" fmla="val 7229"/>
            </a:avLst>
          </a:prstGeom>
          <a:solidFill>
            <a:schemeClr val="bg2"/>
          </a:solidFill>
          <a:ln w="12700">
            <a:solidFill>
              <a:schemeClr val="bg2"/>
            </a:solidFill>
            <a:prstDash val="solid"/>
          </a:ln>
        </p:spPr>
      </p:sp>
      <p:sp>
        <p:nvSpPr>
          <p:cNvPr id="10" name="Text 7"/>
          <p:cNvSpPr txBox="1"/>
          <p:nvPr/>
        </p:nvSpPr>
        <p:spPr>
          <a:xfrm>
            <a:off x="685800" y="2514600"/>
            <a:ext cx="1243584" cy="822960"/>
          </a:xfrm>
          <a:prstGeom prst="rect">
            <a:avLst/>
          </a:prstGeom>
          <a:noFill/>
          <a:ln/>
        </p:spPr>
        <p:txBody>
          <a:bodyPr wrap="square" lIns="0" tIns="0" rIns="0" bIns="0" rtlCol="0" anchor="t"/>
          <a:lstStyle/>
          <a:p>
            <a:pPr indent="0" marL="0">
              <a:buNone/>
            </a:pPr>
            <a:r>
              <a:rPr lang="en-US" sz="1500" b="1" dirty="0">
                <a:solidFill>
                  <a:schemeClr val="accent1"/>
                </a:solidFill>
              </a:rPr>
              <a:t>1.1 PM</a:t>
            </a:r>
            <a:endParaRPr lang="en-US" sz="1500" dirty="0"/>
          </a:p>
        </p:txBody>
      </p:sp>
      <p:sp>
        <p:nvSpPr>
          <p:cNvPr id="11" name="Text 8"/>
          <p:cNvSpPr txBox="1"/>
          <p:nvPr/>
        </p:nvSpPr>
        <p:spPr>
          <a:xfrm>
            <a:off x="685800" y="3337560"/>
            <a:ext cx="1243584" cy="2103120"/>
          </a:xfrm>
          <a:prstGeom prst="rect">
            <a:avLst/>
          </a:prstGeom>
          <a:noFill/>
          <a:ln/>
        </p:spPr>
        <p:txBody>
          <a:bodyPr wrap="square" lIns="0" tIns="0" rIns="0" bIns="0" rtlCol="0" anchor="t"/>
          <a:lstStyle/>
          <a:p>
            <a:pPr indent="0" marL="0">
              <a:buNone/>
            </a:pPr>
            <a:r>
              <a:rPr lang="en-US" sz="1400" dirty="0">
                <a:solidFill>
                  <a:schemeClr val="tx1"/>
                </a:solidFill>
              </a:rPr>
              <a:t>Charter, plan, risks, reporting, closure</a:t>
            </a:r>
            <a:endParaRPr lang="en-US" sz="1400" dirty="0"/>
          </a:p>
        </p:txBody>
      </p:sp>
      <p:sp>
        <p:nvSpPr>
          <p:cNvPr id="12" name="Shape 9"/>
          <p:cNvSpPr/>
          <p:nvPr/>
        </p:nvSpPr>
        <p:spPr>
          <a:xfrm>
            <a:off x="2916936" y="2057400"/>
            <a:ext cx="0" cy="274320"/>
          </a:xfrm>
          <a:prstGeom prst="line">
            <a:avLst/>
          </a:prstGeom>
          <a:noFill/>
          <a:ln w="15875">
            <a:solidFill>
              <a:schemeClr val="tx2"/>
            </a:solidFill>
            <a:prstDash val="solid"/>
          </a:ln>
        </p:spPr>
      </p:sp>
      <p:sp>
        <p:nvSpPr>
          <p:cNvPr id="13" name="Shape 10"/>
          <p:cNvSpPr/>
          <p:nvPr/>
        </p:nvSpPr>
        <p:spPr>
          <a:xfrm>
            <a:off x="2157984" y="2331720"/>
            <a:ext cx="1517904" cy="3291840"/>
          </a:xfrm>
          <a:prstGeom prst="roundRect">
            <a:avLst>
              <a:gd name="adj" fmla="val 7229"/>
            </a:avLst>
          </a:prstGeom>
          <a:solidFill>
            <a:schemeClr val="bg2"/>
          </a:solidFill>
          <a:ln w="12700">
            <a:solidFill>
              <a:schemeClr val="bg2"/>
            </a:solidFill>
            <a:prstDash val="solid"/>
          </a:ln>
        </p:spPr>
      </p:sp>
      <p:sp>
        <p:nvSpPr>
          <p:cNvPr id="14" name="Text 11"/>
          <p:cNvSpPr txBox="1"/>
          <p:nvPr/>
        </p:nvSpPr>
        <p:spPr>
          <a:xfrm>
            <a:off x="2295144" y="2514600"/>
            <a:ext cx="1243584" cy="822960"/>
          </a:xfrm>
          <a:prstGeom prst="rect">
            <a:avLst/>
          </a:prstGeom>
          <a:noFill/>
          <a:ln/>
        </p:spPr>
        <p:txBody>
          <a:bodyPr wrap="square" lIns="0" tIns="0" rIns="0" bIns="0" rtlCol="0" anchor="t"/>
          <a:lstStyle/>
          <a:p>
            <a:pPr indent="0" marL="0">
              <a:buNone/>
            </a:pPr>
            <a:r>
              <a:rPr lang="en-US" sz="1500" b="1" dirty="0">
                <a:solidFill>
                  <a:schemeClr val="accent1"/>
                </a:solidFill>
              </a:rPr>
              <a:t>1.2 Setup</a:t>
            </a:r>
            <a:endParaRPr lang="en-US" sz="1500" dirty="0"/>
          </a:p>
        </p:txBody>
      </p:sp>
      <p:sp>
        <p:nvSpPr>
          <p:cNvPr id="15" name="Text 12"/>
          <p:cNvSpPr txBox="1"/>
          <p:nvPr/>
        </p:nvSpPr>
        <p:spPr>
          <a:xfrm>
            <a:off x="2295144" y="3337560"/>
            <a:ext cx="1243584" cy="2103120"/>
          </a:xfrm>
          <a:prstGeom prst="rect">
            <a:avLst/>
          </a:prstGeom>
          <a:noFill/>
          <a:ln/>
        </p:spPr>
        <p:txBody>
          <a:bodyPr wrap="square" lIns="0" tIns="0" rIns="0" bIns="0" rtlCol="0" anchor="t"/>
          <a:lstStyle/>
          <a:p>
            <a:pPr indent="0" marL="0">
              <a:buNone/>
            </a:pPr>
            <a:r>
              <a:rPr lang="en-US" sz="1400" dirty="0">
                <a:solidFill>
                  <a:schemeClr val="tx1"/>
                </a:solidFill>
              </a:rPr>
              <a:t>Toolchain, Git + GitHub</a:t>
            </a:r>
            <a:endParaRPr lang="en-US" sz="1400" dirty="0"/>
          </a:p>
        </p:txBody>
      </p:sp>
      <p:sp>
        <p:nvSpPr>
          <p:cNvPr id="16" name="Shape 13"/>
          <p:cNvSpPr/>
          <p:nvPr/>
        </p:nvSpPr>
        <p:spPr>
          <a:xfrm>
            <a:off x="4526280" y="2057400"/>
            <a:ext cx="0" cy="274320"/>
          </a:xfrm>
          <a:prstGeom prst="line">
            <a:avLst/>
          </a:prstGeom>
          <a:noFill/>
          <a:ln w="15875">
            <a:solidFill>
              <a:schemeClr val="tx2"/>
            </a:solidFill>
            <a:prstDash val="solid"/>
          </a:ln>
        </p:spPr>
      </p:sp>
      <p:sp>
        <p:nvSpPr>
          <p:cNvPr id="17" name="Shape 14"/>
          <p:cNvSpPr/>
          <p:nvPr/>
        </p:nvSpPr>
        <p:spPr>
          <a:xfrm>
            <a:off x="3767328" y="2331720"/>
            <a:ext cx="1517904" cy="3291840"/>
          </a:xfrm>
          <a:prstGeom prst="roundRect">
            <a:avLst>
              <a:gd name="adj" fmla="val 7229"/>
            </a:avLst>
          </a:prstGeom>
          <a:solidFill>
            <a:schemeClr val="tx1"/>
          </a:solidFill>
          <a:ln w="12700">
            <a:solidFill>
              <a:schemeClr val="tx1"/>
            </a:solidFill>
            <a:prstDash val="solid"/>
          </a:ln>
        </p:spPr>
      </p:sp>
      <p:sp>
        <p:nvSpPr>
          <p:cNvPr id="18" name="Text 15"/>
          <p:cNvSpPr txBox="1"/>
          <p:nvPr/>
        </p:nvSpPr>
        <p:spPr>
          <a:xfrm>
            <a:off x="3904488" y="2514600"/>
            <a:ext cx="1243584" cy="822960"/>
          </a:xfrm>
          <a:prstGeom prst="rect">
            <a:avLst/>
          </a:prstGeom>
          <a:noFill/>
          <a:ln/>
        </p:spPr>
        <p:txBody>
          <a:bodyPr wrap="square" lIns="0" tIns="0" rIns="0" bIns="0" rtlCol="0" anchor="t"/>
          <a:lstStyle/>
          <a:p>
            <a:pPr indent="0" marL="0">
              <a:buNone/>
            </a:pPr>
            <a:r>
              <a:rPr lang="en-US" sz="1500" b="1" dirty="0">
                <a:solidFill>
                  <a:schemeClr val="accent1"/>
                </a:solidFill>
              </a:rPr>
              <a:t>1.3 Content system</a:t>
            </a:r>
            <a:endParaRPr lang="en-US" sz="1500" dirty="0"/>
          </a:p>
        </p:txBody>
      </p:sp>
      <p:sp>
        <p:nvSpPr>
          <p:cNvPr id="19" name="Text 16"/>
          <p:cNvSpPr txBox="1"/>
          <p:nvPr/>
        </p:nvSpPr>
        <p:spPr>
          <a:xfrm>
            <a:off x="3904488" y="3337560"/>
            <a:ext cx="1243584" cy="2103120"/>
          </a:xfrm>
          <a:prstGeom prst="rect">
            <a:avLst/>
          </a:prstGeom>
          <a:noFill/>
          <a:ln/>
        </p:spPr>
        <p:txBody>
          <a:bodyPr wrap="square" lIns="0" tIns="0" rIns="0" bIns="0" rtlCol="0" anchor="t"/>
          <a:lstStyle/>
          <a:p>
            <a:pPr indent="0" marL="0">
              <a:buNone/>
            </a:pPr>
            <a:r>
              <a:rPr lang="en-US" sz="1400" dirty="0">
                <a:solidFill>
                  <a:schemeClr val="bg1"/>
                </a:solidFill>
              </a:rPr>
              <a:t>Format, validator, word list, guide</a:t>
            </a:r>
            <a:endParaRPr lang="en-US" sz="1400" dirty="0"/>
          </a:p>
        </p:txBody>
      </p:sp>
      <p:sp>
        <p:nvSpPr>
          <p:cNvPr id="20" name="Shape 17"/>
          <p:cNvSpPr/>
          <p:nvPr/>
        </p:nvSpPr>
        <p:spPr>
          <a:xfrm>
            <a:off x="6135624" y="2057400"/>
            <a:ext cx="0" cy="274320"/>
          </a:xfrm>
          <a:prstGeom prst="line">
            <a:avLst/>
          </a:prstGeom>
          <a:noFill/>
          <a:ln w="15875">
            <a:solidFill>
              <a:schemeClr val="tx2"/>
            </a:solidFill>
            <a:prstDash val="solid"/>
          </a:ln>
        </p:spPr>
      </p:sp>
      <p:sp>
        <p:nvSpPr>
          <p:cNvPr id="21" name="Shape 18"/>
          <p:cNvSpPr/>
          <p:nvPr/>
        </p:nvSpPr>
        <p:spPr>
          <a:xfrm>
            <a:off x="5376672" y="2331720"/>
            <a:ext cx="1517904" cy="3291840"/>
          </a:xfrm>
          <a:prstGeom prst="roundRect">
            <a:avLst>
              <a:gd name="adj" fmla="val 7229"/>
            </a:avLst>
          </a:prstGeom>
          <a:solidFill>
            <a:schemeClr val="tx1"/>
          </a:solidFill>
          <a:ln w="12700">
            <a:solidFill>
              <a:schemeClr val="tx1"/>
            </a:solidFill>
            <a:prstDash val="solid"/>
          </a:ln>
        </p:spPr>
      </p:sp>
      <p:sp>
        <p:nvSpPr>
          <p:cNvPr id="22" name="Text 19"/>
          <p:cNvSpPr txBox="1"/>
          <p:nvPr/>
        </p:nvSpPr>
        <p:spPr>
          <a:xfrm>
            <a:off x="5513832" y="2514600"/>
            <a:ext cx="1243584" cy="822960"/>
          </a:xfrm>
          <a:prstGeom prst="rect">
            <a:avLst/>
          </a:prstGeom>
          <a:noFill/>
          <a:ln/>
        </p:spPr>
        <p:txBody>
          <a:bodyPr wrap="square" lIns="0" tIns="0" rIns="0" bIns="0" rtlCol="0" anchor="t"/>
          <a:lstStyle/>
          <a:p>
            <a:pPr indent="0" marL="0">
              <a:buNone/>
            </a:pPr>
            <a:r>
              <a:rPr lang="en-US" sz="1500" b="1" dirty="0">
                <a:solidFill>
                  <a:schemeClr val="accent1"/>
                </a:solidFill>
              </a:rPr>
              <a:t>1.4 Lessons</a:t>
            </a:r>
            <a:endParaRPr lang="en-US" sz="1500" dirty="0"/>
          </a:p>
        </p:txBody>
      </p:sp>
      <p:sp>
        <p:nvSpPr>
          <p:cNvPr id="23" name="Text 20"/>
          <p:cNvSpPr txBox="1"/>
          <p:nvPr/>
        </p:nvSpPr>
        <p:spPr>
          <a:xfrm>
            <a:off x="5513832" y="3337560"/>
            <a:ext cx="1243584" cy="2103120"/>
          </a:xfrm>
          <a:prstGeom prst="rect">
            <a:avLst/>
          </a:prstGeom>
          <a:noFill/>
          <a:ln/>
        </p:spPr>
        <p:txBody>
          <a:bodyPr wrap="square" lIns="0" tIns="0" rIns="0" bIns="0" rtlCol="0" anchor="t"/>
          <a:lstStyle/>
          <a:p>
            <a:pPr indent="0" marL="0">
              <a:buNone/>
            </a:pPr>
            <a:r>
              <a:rPr lang="en-US" sz="1400" dirty="0">
                <a:solidFill>
                  <a:schemeClr val="bg1"/>
                </a:solidFill>
              </a:rPr>
              <a:t>1–3, 4–30 (A1), 31–120 (A2), read-through</a:t>
            </a:r>
            <a:endParaRPr lang="en-US" sz="1400" dirty="0"/>
          </a:p>
        </p:txBody>
      </p:sp>
      <p:sp>
        <p:nvSpPr>
          <p:cNvPr id="24" name="Shape 21"/>
          <p:cNvSpPr/>
          <p:nvPr/>
        </p:nvSpPr>
        <p:spPr>
          <a:xfrm>
            <a:off x="7744968" y="2057400"/>
            <a:ext cx="0" cy="274320"/>
          </a:xfrm>
          <a:prstGeom prst="line">
            <a:avLst/>
          </a:prstGeom>
          <a:noFill/>
          <a:ln w="15875">
            <a:solidFill>
              <a:schemeClr val="tx2"/>
            </a:solidFill>
            <a:prstDash val="solid"/>
          </a:ln>
        </p:spPr>
      </p:sp>
      <p:sp>
        <p:nvSpPr>
          <p:cNvPr id="25" name="Shape 22"/>
          <p:cNvSpPr/>
          <p:nvPr/>
        </p:nvSpPr>
        <p:spPr>
          <a:xfrm>
            <a:off x="6986016" y="2331720"/>
            <a:ext cx="1517904" cy="3291840"/>
          </a:xfrm>
          <a:prstGeom prst="roundRect">
            <a:avLst>
              <a:gd name="adj" fmla="val 7229"/>
            </a:avLst>
          </a:prstGeom>
          <a:solidFill>
            <a:schemeClr val="bg2"/>
          </a:solidFill>
          <a:ln w="12700">
            <a:solidFill>
              <a:schemeClr val="bg2"/>
            </a:solidFill>
            <a:prstDash val="solid"/>
          </a:ln>
        </p:spPr>
      </p:sp>
      <p:sp>
        <p:nvSpPr>
          <p:cNvPr id="26" name="Text 23"/>
          <p:cNvSpPr txBox="1"/>
          <p:nvPr/>
        </p:nvSpPr>
        <p:spPr>
          <a:xfrm>
            <a:off x="7123176" y="2514600"/>
            <a:ext cx="1243584" cy="822960"/>
          </a:xfrm>
          <a:prstGeom prst="rect">
            <a:avLst/>
          </a:prstGeom>
          <a:noFill/>
          <a:ln/>
        </p:spPr>
        <p:txBody>
          <a:bodyPr wrap="square" lIns="0" tIns="0" rIns="0" bIns="0" rtlCol="0" anchor="t"/>
          <a:lstStyle/>
          <a:p>
            <a:pPr indent="0" marL="0">
              <a:buNone/>
            </a:pPr>
            <a:r>
              <a:rPr lang="en-US" sz="1500" b="1" dirty="0">
                <a:solidFill>
                  <a:schemeClr val="accent1"/>
                </a:solidFill>
              </a:rPr>
              <a:t>1.5 Application</a:t>
            </a:r>
            <a:endParaRPr lang="en-US" sz="1500" dirty="0"/>
          </a:p>
        </p:txBody>
      </p:sp>
      <p:sp>
        <p:nvSpPr>
          <p:cNvPr id="27" name="Text 24"/>
          <p:cNvSpPr txBox="1"/>
          <p:nvPr/>
        </p:nvSpPr>
        <p:spPr>
          <a:xfrm>
            <a:off x="7123176" y="3337560"/>
            <a:ext cx="1243584" cy="2103120"/>
          </a:xfrm>
          <a:prstGeom prst="rect">
            <a:avLst/>
          </a:prstGeom>
          <a:noFill/>
          <a:ln/>
        </p:spPr>
        <p:txBody>
          <a:bodyPr wrap="square" lIns="0" tIns="0" rIns="0" bIns="0" rtlCol="0" anchor="t"/>
          <a:lstStyle/>
          <a:p>
            <a:pPr indent="0" marL="0">
              <a:buNone/>
            </a:pPr>
            <a:r>
              <a:rPr lang="en-US" sz="1400" dirty="0">
                <a:solidFill>
                  <a:schemeClr val="tx1"/>
                </a:solidFill>
              </a:rPr>
              <a:t>Lesson, review, my words, home, speech, PWA</a:t>
            </a:r>
            <a:endParaRPr lang="en-US" sz="1400" dirty="0"/>
          </a:p>
        </p:txBody>
      </p:sp>
      <p:sp>
        <p:nvSpPr>
          <p:cNvPr id="28" name="Shape 25"/>
          <p:cNvSpPr/>
          <p:nvPr/>
        </p:nvSpPr>
        <p:spPr>
          <a:xfrm>
            <a:off x="9354312" y="2057400"/>
            <a:ext cx="0" cy="274320"/>
          </a:xfrm>
          <a:prstGeom prst="line">
            <a:avLst/>
          </a:prstGeom>
          <a:noFill/>
          <a:ln w="15875">
            <a:solidFill>
              <a:schemeClr val="tx2"/>
            </a:solidFill>
            <a:prstDash val="solid"/>
          </a:ln>
        </p:spPr>
      </p:sp>
      <p:sp>
        <p:nvSpPr>
          <p:cNvPr id="29" name="Shape 26"/>
          <p:cNvSpPr/>
          <p:nvPr/>
        </p:nvSpPr>
        <p:spPr>
          <a:xfrm>
            <a:off x="8595360" y="2331720"/>
            <a:ext cx="1517904" cy="3291840"/>
          </a:xfrm>
          <a:prstGeom prst="roundRect">
            <a:avLst>
              <a:gd name="adj" fmla="val 7229"/>
            </a:avLst>
          </a:prstGeom>
          <a:solidFill>
            <a:schemeClr val="bg2"/>
          </a:solidFill>
          <a:ln w="12700">
            <a:solidFill>
              <a:schemeClr val="bg2"/>
            </a:solidFill>
            <a:prstDash val="solid"/>
          </a:ln>
        </p:spPr>
      </p:sp>
      <p:sp>
        <p:nvSpPr>
          <p:cNvPr id="30" name="Text 27"/>
          <p:cNvSpPr txBox="1"/>
          <p:nvPr/>
        </p:nvSpPr>
        <p:spPr>
          <a:xfrm>
            <a:off x="8732520" y="2514600"/>
            <a:ext cx="1243584" cy="822960"/>
          </a:xfrm>
          <a:prstGeom prst="rect">
            <a:avLst/>
          </a:prstGeom>
          <a:noFill/>
          <a:ln/>
        </p:spPr>
        <p:txBody>
          <a:bodyPr wrap="square" lIns="0" tIns="0" rIns="0" bIns="0" rtlCol="0" anchor="t"/>
          <a:lstStyle/>
          <a:p>
            <a:pPr indent="0" marL="0">
              <a:buNone/>
            </a:pPr>
            <a:r>
              <a:rPr lang="en-US" sz="1500" b="1" dirty="0">
                <a:solidFill>
                  <a:schemeClr val="accent1"/>
                </a:solidFill>
              </a:rPr>
              <a:t>1.6 Quality</a:t>
            </a:r>
            <a:endParaRPr lang="en-US" sz="1500" dirty="0"/>
          </a:p>
        </p:txBody>
      </p:sp>
      <p:sp>
        <p:nvSpPr>
          <p:cNvPr id="31" name="Text 28"/>
          <p:cNvSpPr txBox="1"/>
          <p:nvPr/>
        </p:nvSpPr>
        <p:spPr>
          <a:xfrm>
            <a:off x="8732520" y="3337560"/>
            <a:ext cx="1243584" cy="2103120"/>
          </a:xfrm>
          <a:prstGeom prst="rect">
            <a:avLst/>
          </a:prstGeom>
          <a:noFill/>
          <a:ln/>
        </p:spPr>
        <p:txBody>
          <a:bodyPr wrap="square" lIns="0" tIns="0" rIns="0" bIns="0" rtlCol="0" anchor="t"/>
          <a:lstStyle/>
          <a:p>
            <a:pPr indent="0" marL="0">
              <a:buNone/>
            </a:pPr>
            <a:r>
              <a:rPr lang="en-US" sz="1400" dirty="0">
                <a:solidFill>
                  <a:schemeClr val="tx1"/>
                </a:solidFill>
              </a:rPr>
              <a:t>Unit tests, build gate, daily use test</a:t>
            </a:r>
            <a:endParaRPr lang="en-US" sz="1400" dirty="0"/>
          </a:p>
        </p:txBody>
      </p:sp>
      <p:sp>
        <p:nvSpPr>
          <p:cNvPr id="32" name="Shape 29"/>
          <p:cNvSpPr/>
          <p:nvPr/>
        </p:nvSpPr>
        <p:spPr>
          <a:xfrm>
            <a:off x="10963656" y="2057400"/>
            <a:ext cx="0" cy="274320"/>
          </a:xfrm>
          <a:prstGeom prst="line">
            <a:avLst/>
          </a:prstGeom>
          <a:noFill/>
          <a:ln w="15875">
            <a:solidFill>
              <a:schemeClr val="tx2"/>
            </a:solidFill>
            <a:prstDash val="solid"/>
          </a:ln>
        </p:spPr>
      </p:sp>
      <p:sp>
        <p:nvSpPr>
          <p:cNvPr id="33" name="Shape 30"/>
          <p:cNvSpPr/>
          <p:nvPr/>
        </p:nvSpPr>
        <p:spPr>
          <a:xfrm>
            <a:off x="10204704" y="2331720"/>
            <a:ext cx="1517904" cy="3291840"/>
          </a:xfrm>
          <a:prstGeom prst="roundRect">
            <a:avLst>
              <a:gd name="adj" fmla="val 7229"/>
            </a:avLst>
          </a:prstGeom>
          <a:solidFill>
            <a:schemeClr val="bg2"/>
          </a:solidFill>
          <a:ln w="12700">
            <a:solidFill>
              <a:schemeClr val="bg2"/>
            </a:solidFill>
            <a:prstDash val="solid"/>
          </a:ln>
        </p:spPr>
      </p:sp>
      <p:sp>
        <p:nvSpPr>
          <p:cNvPr id="34" name="Text 31"/>
          <p:cNvSpPr txBox="1"/>
          <p:nvPr/>
        </p:nvSpPr>
        <p:spPr>
          <a:xfrm>
            <a:off x="10341864" y="2514600"/>
            <a:ext cx="1243584" cy="822960"/>
          </a:xfrm>
          <a:prstGeom prst="rect">
            <a:avLst/>
          </a:prstGeom>
          <a:noFill/>
          <a:ln/>
        </p:spPr>
        <p:txBody>
          <a:bodyPr wrap="square" lIns="0" tIns="0" rIns="0" bIns="0" rtlCol="0" anchor="t"/>
          <a:lstStyle/>
          <a:p>
            <a:pPr indent="0" marL="0">
              <a:buNone/>
            </a:pPr>
            <a:r>
              <a:rPr lang="en-US" sz="1500" b="1" dirty="0">
                <a:solidFill>
                  <a:schemeClr val="accent1"/>
                </a:solidFill>
              </a:rPr>
              <a:t>1.7 Release</a:t>
            </a:r>
            <a:endParaRPr lang="en-US" sz="1500" dirty="0"/>
          </a:p>
        </p:txBody>
      </p:sp>
      <p:sp>
        <p:nvSpPr>
          <p:cNvPr id="35" name="Text 32"/>
          <p:cNvSpPr txBox="1"/>
          <p:nvPr/>
        </p:nvSpPr>
        <p:spPr>
          <a:xfrm>
            <a:off x="10341864" y="3337560"/>
            <a:ext cx="1243584" cy="2103120"/>
          </a:xfrm>
          <a:prstGeom prst="rect">
            <a:avLst/>
          </a:prstGeom>
          <a:noFill/>
          <a:ln/>
        </p:spPr>
        <p:txBody>
          <a:bodyPr wrap="square" lIns="0" tIns="0" rIns="0" bIns="0" rtlCol="0" anchor="t"/>
          <a:lstStyle/>
          <a:p>
            <a:pPr indent="0" marL="0">
              <a:buNone/>
            </a:pPr>
            <a:r>
              <a:rPr lang="en-US" sz="1400" dirty="0">
                <a:solidFill>
                  <a:schemeClr val="tx1"/>
                </a:solidFill>
              </a:rPr>
              <a:t>Deploy to Vercel, smoke test</a:t>
            </a:r>
            <a:endParaRPr lang="en-US" sz="1400" dirty="0"/>
          </a:p>
        </p:txBody>
      </p:sp>
      <p:sp>
        <p:nvSpPr>
          <p:cNvPr id="36" name="Text 33"/>
          <p:cNvSpPr txBox="1"/>
          <p:nvPr/>
        </p:nvSpPr>
        <p:spPr>
          <a:xfrm>
            <a:off x="548640" y="5806440"/>
            <a:ext cx="9144000" cy="320040"/>
          </a:xfrm>
          <a:prstGeom prst="rect">
            <a:avLst/>
          </a:prstGeom>
          <a:noFill/>
          <a:ln/>
        </p:spPr>
        <p:txBody>
          <a:bodyPr wrap="square" lIns="0" tIns="0" rIns="0" bIns="0" rtlCol="0" anchor="t"/>
          <a:lstStyle/>
          <a:p>
            <a:pPr indent="0" marL="0">
              <a:buNone/>
            </a:pPr>
            <a:r>
              <a:rPr lang="en-US" sz="1200" dirty="0">
                <a:solidFill>
                  <a:schemeClr val="tx2"/>
                </a:solidFill>
              </a:rPr>
              <a:t>Full WBS tree: project-management/02-project-plan.md</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Schedule: milestones planned vs. reached</a:t>
            </a:r>
            <a:endParaRPr lang="en-US" sz="3400" dirty="0"/>
          </a:p>
        </p:txBody>
      </p:sp>
      <p:sp>
        <p:nvSpPr>
          <p:cNvPr id="4" name="Shape 1"/>
          <p:cNvSpPr/>
          <p:nvPr/>
        </p:nvSpPr>
        <p:spPr>
          <a:xfrm>
            <a:off x="1188720" y="3291840"/>
            <a:ext cx="4892040" cy="0"/>
          </a:xfrm>
          <a:prstGeom prst="line">
            <a:avLst/>
          </a:prstGeom>
          <a:noFill/>
          <a:ln w="50800">
            <a:solidFill>
              <a:schemeClr val="accent3"/>
            </a:solidFill>
            <a:prstDash val="solid"/>
          </a:ln>
        </p:spPr>
      </p:sp>
      <p:sp>
        <p:nvSpPr>
          <p:cNvPr id="5" name="Shape 2"/>
          <p:cNvSpPr/>
          <p:nvPr/>
        </p:nvSpPr>
        <p:spPr>
          <a:xfrm>
            <a:off x="6080760" y="3291840"/>
            <a:ext cx="4892040" cy="0"/>
          </a:xfrm>
          <a:prstGeom prst="line">
            <a:avLst/>
          </a:prstGeom>
          <a:noFill/>
          <a:ln w="50800">
            <a:solidFill>
              <a:schemeClr val="accent6"/>
            </a:solidFill>
            <a:prstDash val="dash"/>
          </a:ln>
        </p:spPr>
      </p:sp>
      <p:sp>
        <p:nvSpPr>
          <p:cNvPr id="6" name="Shape 3"/>
          <p:cNvSpPr/>
          <p:nvPr/>
        </p:nvSpPr>
        <p:spPr>
          <a:xfrm>
            <a:off x="914400" y="3017520"/>
            <a:ext cx="548640" cy="548640"/>
          </a:xfrm>
          <a:prstGeom prst="ellipse">
            <a:avLst/>
          </a:prstGeom>
          <a:solidFill>
            <a:schemeClr val="accent3"/>
          </a:solidFill>
          <a:ln w="25400">
            <a:solidFill>
              <a:schemeClr val="accent3"/>
            </a:solidFill>
            <a:prstDash val="solid"/>
          </a:ln>
        </p:spPr>
      </p:sp>
      <p:sp>
        <p:nvSpPr>
          <p:cNvPr id="7" name="Text 4"/>
          <p:cNvSpPr txBox="1"/>
          <p:nvPr/>
        </p:nvSpPr>
        <p:spPr>
          <a:xfrm>
            <a:off x="914400" y="3017520"/>
            <a:ext cx="548640" cy="548640"/>
          </a:xfrm>
          <a:prstGeom prst="rect">
            <a:avLst/>
          </a:prstGeom>
          <a:noFill/>
          <a:ln/>
        </p:spPr>
        <p:txBody>
          <a:bodyPr wrap="square" lIns="0" tIns="0" rIns="0" bIns="0" rtlCol="0" anchor="ctr"/>
          <a:lstStyle/>
          <a:p>
            <a:pPr algn="ctr" indent="0" marL="0">
              <a:buNone/>
            </a:pPr>
            <a:r>
              <a:rPr lang="en-US" sz="1200" b="1" dirty="0">
                <a:solidFill>
                  <a:schemeClr val="bg1"/>
                </a:solidFill>
              </a:rPr>
              <a:t>M1</a:t>
            </a:r>
            <a:endParaRPr lang="en-US" sz="1200" dirty="0"/>
          </a:p>
        </p:txBody>
      </p:sp>
      <p:sp>
        <p:nvSpPr>
          <p:cNvPr id="8" name="Text 5"/>
          <p:cNvSpPr txBox="1"/>
          <p:nvPr/>
        </p:nvSpPr>
        <p:spPr>
          <a:xfrm>
            <a:off x="457200" y="1920240"/>
            <a:ext cx="1463040" cy="365760"/>
          </a:xfrm>
          <a:prstGeom prst="rect">
            <a:avLst/>
          </a:prstGeom>
          <a:noFill/>
          <a:ln/>
        </p:spPr>
        <p:txBody>
          <a:bodyPr wrap="square" lIns="0" tIns="0" rIns="0" bIns="0" rtlCol="0" anchor="t"/>
          <a:lstStyle/>
          <a:p>
            <a:pPr algn="ctr" indent="0" marL="0">
              <a:buNone/>
            </a:pPr>
            <a:r>
              <a:rPr lang="en-US" sz="1600" b="1" dirty="0">
                <a:solidFill>
                  <a:schemeClr val="accent3"/>
                </a:solidFill>
              </a:rPr>
              <a:t>19 Oct</a:t>
            </a:r>
            <a:endParaRPr lang="en-US" sz="1600" dirty="0"/>
          </a:p>
        </p:txBody>
      </p:sp>
      <p:sp>
        <p:nvSpPr>
          <p:cNvPr id="9" name="Text 6"/>
          <p:cNvSpPr txBox="1"/>
          <p:nvPr/>
        </p:nvSpPr>
        <p:spPr>
          <a:xfrm>
            <a:off x="411480" y="2286000"/>
            <a:ext cx="1554480" cy="640080"/>
          </a:xfrm>
          <a:prstGeom prst="rect">
            <a:avLst/>
          </a:prstGeom>
          <a:noFill/>
          <a:ln/>
        </p:spPr>
        <p:txBody>
          <a:bodyPr wrap="square" lIns="0" tIns="0" rIns="0" bIns="0" rtlCol="0" anchor="t"/>
          <a:lstStyle/>
          <a:p>
            <a:pPr algn="ctr" indent="0" marL="0">
              <a:buNone/>
            </a:pPr>
            <a:r>
              <a:rPr lang="en-US" sz="1400" dirty="0">
                <a:solidFill>
                  <a:schemeClr val="tx1"/>
                </a:solidFill>
              </a:rPr>
              <a:t>Setup</a:t>
            </a:r>
            <a:endParaRPr lang="en-US" sz="1400" dirty="0"/>
          </a:p>
        </p:txBody>
      </p:sp>
      <p:sp>
        <p:nvSpPr>
          <p:cNvPr id="10" name="Shape 7"/>
          <p:cNvSpPr/>
          <p:nvPr/>
        </p:nvSpPr>
        <p:spPr>
          <a:xfrm>
            <a:off x="2545080" y="3017520"/>
            <a:ext cx="548640" cy="548640"/>
          </a:xfrm>
          <a:prstGeom prst="ellipse">
            <a:avLst/>
          </a:prstGeom>
          <a:solidFill>
            <a:schemeClr val="accent3"/>
          </a:solidFill>
          <a:ln w="25400">
            <a:solidFill>
              <a:schemeClr val="accent3"/>
            </a:solidFill>
            <a:prstDash val="solid"/>
          </a:ln>
        </p:spPr>
      </p:sp>
      <p:sp>
        <p:nvSpPr>
          <p:cNvPr id="11" name="Text 8"/>
          <p:cNvSpPr txBox="1"/>
          <p:nvPr/>
        </p:nvSpPr>
        <p:spPr>
          <a:xfrm>
            <a:off x="2545080" y="3017520"/>
            <a:ext cx="548640" cy="548640"/>
          </a:xfrm>
          <a:prstGeom prst="rect">
            <a:avLst/>
          </a:prstGeom>
          <a:noFill/>
          <a:ln/>
        </p:spPr>
        <p:txBody>
          <a:bodyPr wrap="square" lIns="0" tIns="0" rIns="0" bIns="0" rtlCol="0" anchor="ctr"/>
          <a:lstStyle/>
          <a:p>
            <a:pPr algn="ctr" indent="0" marL="0">
              <a:buNone/>
            </a:pPr>
            <a:r>
              <a:rPr lang="en-US" sz="1200" b="1" dirty="0">
                <a:solidFill>
                  <a:schemeClr val="bg1"/>
                </a:solidFill>
              </a:rPr>
              <a:t>M2</a:t>
            </a:r>
            <a:endParaRPr lang="en-US" sz="1200" dirty="0"/>
          </a:p>
        </p:txBody>
      </p:sp>
      <p:sp>
        <p:nvSpPr>
          <p:cNvPr id="12" name="Text 9"/>
          <p:cNvSpPr txBox="1"/>
          <p:nvPr/>
        </p:nvSpPr>
        <p:spPr>
          <a:xfrm>
            <a:off x="2087880" y="3749040"/>
            <a:ext cx="1463040" cy="365760"/>
          </a:xfrm>
          <a:prstGeom prst="rect">
            <a:avLst/>
          </a:prstGeom>
          <a:noFill/>
          <a:ln/>
        </p:spPr>
        <p:txBody>
          <a:bodyPr wrap="square" lIns="0" tIns="0" rIns="0" bIns="0" rtlCol="0" anchor="t"/>
          <a:lstStyle/>
          <a:p>
            <a:pPr algn="ctr" indent="0" marL="0">
              <a:buNone/>
            </a:pPr>
            <a:r>
              <a:rPr lang="en-US" sz="1600" b="1" dirty="0">
                <a:solidFill>
                  <a:schemeClr val="accent3"/>
                </a:solidFill>
              </a:rPr>
              <a:t>24 Oct</a:t>
            </a:r>
            <a:endParaRPr lang="en-US" sz="1600" dirty="0"/>
          </a:p>
        </p:txBody>
      </p:sp>
      <p:sp>
        <p:nvSpPr>
          <p:cNvPr id="13" name="Text 10"/>
          <p:cNvSpPr txBox="1"/>
          <p:nvPr/>
        </p:nvSpPr>
        <p:spPr>
          <a:xfrm>
            <a:off x="2042160" y="4114800"/>
            <a:ext cx="1554480" cy="640080"/>
          </a:xfrm>
          <a:prstGeom prst="rect">
            <a:avLst/>
          </a:prstGeom>
          <a:noFill/>
          <a:ln/>
        </p:spPr>
        <p:txBody>
          <a:bodyPr wrap="square" lIns="0" tIns="0" rIns="0" bIns="0" rtlCol="0" anchor="t"/>
          <a:lstStyle/>
          <a:p>
            <a:pPr algn="ctr" indent="0" marL="0">
              <a:buNone/>
            </a:pPr>
            <a:r>
              <a:rPr lang="en-US" sz="1400" dirty="0">
                <a:solidFill>
                  <a:schemeClr val="tx1"/>
                </a:solidFill>
              </a:rPr>
              <a:t>MVP + lessons 1–3</a:t>
            </a:r>
            <a:endParaRPr lang="en-US" sz="1400" dirty="0"/>
          </a:p>
        </p:txBody>
      </p:sp>
      <p:sp>
        <p:nvSpPr>
          <p:cNvPr id="14" name="Shape 11"/>
          <p:cNvSpPr/>
          <p:nvPr/>
        </p:nvSpPr>
        <p:spPr>
          <a:xfrm>
            <a:off x="4175760" y="3017520"/>
            <a:ext cx="548640" cy="548640"/>
          </a:xfrm>
          <a:prstGeom prst="ellipse">
            <a:avLst/>
          </a:prstGeom>
          <a:solidFill>
            <a:schemeClr val="accent3"/>
          </a:solidFill>
          <a:ln w="25400">
            <a:solidFill>
              <a:schemeClr val="accent3"/>
            </a:solidFill>
            <a:prstDash val="solid"/>
          </a:ln>
        </p:spPr>
      </p:sp>
      <p:sp>
        <p:nvSpPr>
          <p:cNvPr id="15" name="Text 12"/>
          <p:cNvSpPr txBox="1"/>
          <p:nvPr/>
        </p:nvSpPr>
        <p:spPr>
          <a:xfrm>
            <a:off x="4175760" y="3017520"/>
            <a:ext cx="548640" cy="548640"/>
          </a:xfrm>
          <a:prstGeom prst="rect">
            <a:avLst/>
          </a:prstGeom>
          <a:noFill/>
          <a:ln/>
        </p:spPr>
        <p:txBody>
          <a:bodyPr wrap="square" lIns="0" tIns="0" rIns="0" bIns="0" rtlCol="0" anchor="ctr"/>
          <a:lstStyle/>
          <a:p>
            <a:pPr algn="ctr" indent="0" marL="0">
              <a:buNone/>
            </a:pPr>
            <a:r>
              <a:rPr lang="en-US" sz="1200" b="1" dirty="0">
                <a:solidFill>
                  <a:schemeClr val="bg1"/>
                </a:solidFill>
              </a:rPr>
              <a:t>M3</a:t>
            </a:r>
            <a:endParaRPr lang="en-US" sz="1200" dirty="0"/>
          </a:p>
        </p:txBody>
      </p:sp>
      <p:sp>
        <p:nvSpPr>
          <p:cNvPr id="16" name="Text 13"/>
          <p:cNvSpPr txBox="1"/>
          <p:nvPr/>
        </p:nvSpPr>
        <p:spPr>
          <a:xfrm>
            <a:off x="3718560" y="1920240"/>
            <a:ext cx="1463040" cy="365760"/>
          </a:xfrm>
          <a:prstGeom prst="rect">
            <a:avLst/>
          </a:prstGeom>
          <a:noFill/>
          <a:ln/>
        </p:spPr>
        <p:txBody>
          <a:bodyPr wrap="square" lIns="0" tIns="0" rIns="0" bIns="0" rtlCol="0" anchor="t"/>
          <a:lstStyle/>
          <a:p>
            <a:pPr algn="ctr" indent="0" marL="0">
              <a:buNone/>
            </a:pPr>
            <a:r>
              <a:rPr lang="en-US" sz="1600" b="1" dirty="0">
                <a:solidFill>
                  <a:schemeClr val="accent3"/>
                </a:solidFill>
              </a:rPr>
              <a:t>25 Oct</a:t>
            </a:r>
            <a:endParaRPr lang="en-US" sz="1600" dirty="0"/>
          </a:p>
        </p:txBody>
      </p:sp>
      <p:sp>
        <p:nvSpPr>
          <p:cNvPr id="17" name="Text 14"/>
          <p:cNvSpPr txBox="1"/>
          <p:nvPr/>
        </p:nvSpPr>
        <p:spPr>
          <a:xfrm>
            <a:off x="3672840" y="2286000"/>
            <a:ext cx="1554480" cy="640080"/>
          </a:xfrm>
          <a:prstGeom prst="rect">
            <a:avLst/>
          </a:prstGeom>
          <a:noFill/>
          <a:ln/>
        </p:spPr>
        <p:txBody>
          <a:bodyPr wrap="square" lIns="0" tIns="0" rIns="0" bIns="0" rtlCol="0" anchor="t"/>
          <a:lstStyle/>
          <a:p>
            <a:pPr algn="ctr" indent="0" marL="0">
              <a:buNone/>
            </a:pPr>
            <a:r>
              <a:rPr lang="en-US" sz="1400" dirty="0">
                <a:solidFill>
                  <a:schemeClr val="tx1"/>
                </a:solidFill>
              </a:rPr>
              <a:t>Lessons 4–120</a:t>
            </a:r>
            <a:endParaRPr lang="en-US" sz="1400" dirty="0"/>
          </a:p>
        </p:txBody>
      </p:sp>
      <p:sp>
        <p:nvSpPr>
          <p:cNvPr id="18" name="Shape 15"/>
          <p:cNvSpPr/>
          <p:nvPr/>
        </p:nvSpPr>
        <p:spPr>
          <a:xfrm>
            <a:off x="5806440" y="3017520"/>
            <a:ext cx="548640" cy="548640"/>
          </a:xfrm>
          <a:prstGeom prst="ellipse">
            <a:avLst/>
          </a:prstGeom>
          <a:solidFill>
            <a:schemeClr val="accent3"/>
          </a:solidFill>
          <a:ln w="25400">
            <a:solidFill>
              <a:schemeClr val="accent3"/>
            </a:solidFill>
            <a:prstDash val="solid"/>
          </a:ln>
        </p:spPr>
      </p:sp>
      <p:sp>
        <p:nvSpPr>
          <p:cNvPr id="19" name="Text 16"/>
          <p:cNvSpPr txBox="1"/>
          <p:nvPr/>
        </p:nvSpPr>
        <p:spPr>
          <a:xfrm>
            <a:off x="5806440" y="3017520"/>
            <a:ext cx="548640" cy="548640"/>
          </a:xfrm>
          <a:prstGeom prst="rect">
            <a:avLst/>
          </a:prstGeom>
          <a:noFill/>
          <a:ln/>
        </p:spPr>
        <p:txBody>
          <a:bodyPr wrap="square" lIns="0" tIns="0" rIns="0" bIns="0" rtlCol="0" anchor="ctr"/>
          <a:lstStyle/>
          <a:p>
            <a:pPr algn="ctr" indent="0" marL="0">
              <a:buNone/>
            </a:pPr>
            <a:r>
              <a:rPr lang="en-US" sz="1200" b="1" dirty="0">
                <a:solidFill>
                  <a:schemeClr val="bg1"/>
                </a:solidFill>
              </a:rPr>
              <a:t>M4</a:t>
            </a:r>
            <a:endParaRPr lang="en-US" sz="1200" dirty="0"/>
          </a:p>
        </p:txBody>
      </p:sp>
      <p:sp>
        <p:nvSpPr>
          <p:cNvPr id="20" name="Text 17"/>
          <p:cNvSpPr txBox="1"/>
          <p:nvPr/>
        </p:nvSpPr>
        <p:spPr>
          <a:xfrm>
            <a:off x="5349240" y="3749040"/>
            <a:ext cx="1463040" cy="365760"/>
          </a:xfrm>
          <a:prstGeom prst="rect">
            <a:avLst/>
          </a:prstGeom>
          <a:noFill/>
          <a:ln/>
        </p:spPr>
        <p:txBody>
          <a:bodyPr wrap="square" lIns="0" tIns="0" rIns="0" bIns="0" rtlCol="0" anchor="t"/>
          <a:lstStyle/>
          <a:p>
            <a:pPr algn="ctr" indent="0" marL="0">
              <a:buNone/>
            </a:pPr>
            <a:r>
              <a:rPr lang="en-US" sz="1600" b="1" dirty="0">
                <a:solidFill>
                  <a:schemeClr val="accent3"/>
                </a:solidFill>
              </a:rPr>
              <a:t>25 Oct</a:t>
            </a:r>
            <a:endParaRPr lang="en-US" sz="1600" dirty="0"/>
          </a:p>
        </p:txBody>
      </p:sp>
      <p:sp>
        <p:nvSpPr>
          <p:cNvPr id="21" name="Text 18"/>
          <p:cNvSpPr txBox="1"/>
          <p:nvPr/>
        </p:nvSpPr>
        <p:spPr>
          <a:xfrm>
            <a:off x="5303520" y="4114800"/>
            <a:ext cx="1554480" cy="640080"/>
          </a:xfrm>
          <a:prstGeom prst="rect">
            <a:avLst/>
          </a:prstGeom>
          <a:noFill/>
          <a:ln/>
        </p:spPr>
        <p:txBody>
          <a:bodyPr wrap="square" lIns="0" tIns="0" rIns="0" bIns="0" rtlCol="0" anchor="t"/>
          <a:lstStyle/>
          <a:p>
            <a:pPr algn="ctr" indent="0" marL="0">
              <a:buNone/>
            </a:pPr>
            <a:r>
              <a:rPr lang="en-US" sz="1400" dirty="0">
                <a:solidFill>
                  <a:schemeClr val="tx1"/>
                </a:solidFill>
              </a:rPr>
              <a:t>PWA + audio</a:t>
            </a:r>
            <a:endParaRPr lang="en-US" sz="1400" dirty="0"/>
          </a:p>
        </p:txBody>
      </p:sp>
      <p:sp>
        <p:nvSpPr>
          <p:cNvPr id="22" name="Shape 19"/>
          <p:cNvSpPr/>
          <p:nvPr/>
        </p:nvSpPr>
        <p:spPr>
          <a:xfrm>
            <a:off x="7437120" y="3017520"/>
            <a:ext cx="548640" cy="548640"/>
          </a:xfrm>
          <a:prstGeom prst="ellipse">
            <a:avLst/>
          </a:prstGeom>
          <a:solidFill>
            <a:schemeClr val="bg1"/>
          </a:solidFill>
          <a:ln w="25400">
            <a:solidFill>
              <a:schemeClr val="accent6"/>
            </a:solidFill>
            <a:prstDash val="solid"/>
          </a:ln>
        </p:spPr>
      </p:sp>
      <p:sp>
        <p:nvSpPr>
          <p:cNvPr id="23" name="Text 20"/>
          <p:cNvSpPr txBox="1"/>
          <p:nvPr/>
        </p:nvSpPr>
        <p:spPr>
          <a:xfrm>
            <a:off x="7437120" y="3017520"/>
            <a:ext cx="548640" cy="548640"/>
          </a:xfrm>
          <a:prstGeom prst="rect">
            <a:avLst/>
          </a:prstGeom>
          <a:noFill/>
          <a:ln/>
        </p:spPr>
        <p:txBody>
          <a:bodyPr wrap="square" lIns="0" tIns="0" rIns="0" bIns="0" rtlCol="0" anchor="ctr"/>
          <a:lstStyle/>
          <a:p>
            <a:pPr algn="ctr" indent="0" marL="0">
              <a:buNone/>
            </a:pPr>
            <a:r>
              <a:rPr lang="en-US" sz="1200" b="1" dirty="0">
                <a:solidFill>
                  <a:schemeClr val="tx2"/>
                </a:solidFill>
              </a:rPr>
              <a:t>M5</a:t>
            </a:r>
            <a:endParaRPr lang="en-US" sz="1200" dirty="0"/>
          </a:p>
        </p:txBody>
      </p:sp>
      <p:sp>
        <p:nvSpPr>
          <p:cNvPr id="24" name="Text 21"/>
          <p:cNvSpPr txBox="1"/>
          <p:nvPr/>
        </p:nvSpPr>
        <p:spPr>
          <a:xfrm>
            <a:off x="6979920" y="1920240"/>
            <a:ext cx="1463040" cy="365760"/>
          </a:xfrm>
          <a:prstGeom prst="rect">
            <a:avLst/>
          </a:prstGeom>
          <a:noFill/>
          <a:ln/>
        </p:spPr>
        <p:txBody>
          <a:bodyPr wrap="square" lIns="0" tIns="0" rIns="0" bIns="0" rtlCol="0" anchor="t"/>
          <a:lstStyle/>
          <a:p>
            <a:pPr algn="ctr" indent="0" marL="0">
              <a:buNone/>
            </a:pPr>
            <a:r>
              <a:rPr lang="en-US" sz="1600" b="1" dirty="0">
                <a:solidFill>
                  <a:schemeClr val="tx2"/>
                </a:solidFill>
              </a:rPr>
              <a:t>[date]</a:t>
            </a:r>
            <a:endParaRPr lang="en-US" sz="1600" dirty="0"/>
          </a:p>
        </p:txBody>
      </p:sp>
      <p:sp>
        <p:nvSpPr>
          <p:cNvPr id="25" name="Text 22"/>
          <p:cNvSpPr txBox="1"/>
          <p:nvPr/>
        </p:nvSpPr>
        <p:spPr>
          <a:xfrm>
            <a:off x="6934200" y="2286000"/>
            <a:ext cx="1554480" cy="640080"/>
          </a:xfrm>
          <a:prstGeom prst="rect">
            <a:avLst/>
          </a:prstGeom>
          <a:noFill/>
          <a:ln/>
        </p:spPr>
        <p:txBody>
          <a:bodyPr wrap="square" lIns="0" tIns="0" rIns="0" bIns="0" rtlCol="0" anchor="t"/>
          <a:lstStyle/>
          <a:p>
            <a:pPr algn="ctr" indent="0" marL="0">
              <a:buNone/>
            </a:pPr>
            <a:r>
              <a:rPr lang="en-US" sz="1400" dirty="0">
                <a:solidFill>
                  <a:schemeClr val="tx1"/>
                </a:solidFill>
              </a:rPr>
              <a:t>Read-through + daily test</a:t>
            </a:r>
            <a:endParaRPr lang="en-US" sz="1400" dirty="0"/>
          </a:p>
        </p:txBody>
      </p:sp>
      <p:sp>
        <p:nvSpPr>
          <p:cNvPr id="26" name="Shape 23"/>
          <p:cNvSpPr/>
          <p:nvPr/>
        </p:nvSpPr>
        <p:spPr>
          <a:xfrm>
            <a:off x="9067800" y="3017520"/>
            <a:ext cx="548640" cy="548640"/>
          </a:xfrm>
          <a:prstGeom prst="ellipse">
            <a:avLst/>
          </a:prstGeom>
          <a:solidFill>
            <a:schemeClr val="bg1"/>
          </a:solidFill>
          <a:ln w="25400">
            <a:solidFill>
              <a:schemeClr val="accent6"/>
            </a:solidFill>
            <a:prstDash val="solid"/>
          </a:ln>
        </p:spPr>
      </p:sp>
      <p:sp>
        <p:nvSpPr>
          <p:cNvPr id="27" name="Text 24"/>
          <p:cNvSpPr txBox="1"/>
          <p:nvPr/>
        </p:nvSpPr>
        <p:spPr>
          <a:xfrm>
            <a:off x="9067800" y="3017520"/>
            <a:ext cx="548640" cy="548640"/>
          </a:xfrm>
          <a:prstGeom prst="rect">
            <a:avLst/>
          </a:prstGeom>
          <a:noFill/>
          <a:ln/>
        </p:spPr>
        <p:txBody>
          <a:bodyPr wrap="square" lIns="0" tIns="0" rIns="0" bIns="0" rtlCol="0" anchor="ctr"/>
          <a:lstStyle/>
          <a:p>
            <a:pPr algn="ctr" indent="0" marL="0">
              <a:buNone/>
            </a:pPr>
            <a:r>
              <a:rPr lang="en-US" sz="1200" b="1" dirty="0">
                <a:solidFill>
                  <a:schemeClr val="tx2"/>
                </a:solidFill>
              </a:rPr>
              <a:t>M6</a:t>
            </a:r>
            <a:endParaRPr lang="en-US" sz="1200" dirty="0"/>
          </a:p>
        </p:txBody>
      </p:sp>
      <p:sp>
        <p:nvSpPr>
          <p:cNvPr id="28" name="Text 25"/>
          <p:cNvSpPr txBox="1"/>
          <p:nvPr/>
        </p:nvSpPr>
        <p:spPr>
          <a:xfrm>
            <a:off x="8610600" y="3749040"/>
            <a:ext cx="1463040" cy="365760"/>
          </a:xfrm>
          <a:prstGeom prst="rect">
            <a:avLst/>
          </a:prstGeom>
          <a:noFill/>
          <a:ln/>
        </p:spPr>
        <p:txBody>
          <a:bodyPr wrap="square" lIns="0" tIns="0" rIns="0" bIns="0" rtlCol="0" anchor="t"/>
          <a:lstStyle/>
          <a:p>
            <a:pPr algn="ctr" indent="0" marL="0">
              <a:buNone/>
            </a:pPr>
            <a:r>
              <a:rPr lang="en-US" sz="1600" b="1" dirty="0">
                <a:solidFill>
                  <a:schemeClr val="tx2"/>
                </a:solidFill>
              </a:rPr>
              <a:t>[date]</a:t>
            </a:r>
            <a:endParaRPr lang="en-US" sz="1600" dirty="0"/>
          </a:p>
        </p:txBody>
      </p:sp>
      <p:sp>
        <p:nvSpPr>
          <p:cNvPr id="29" name="Text 26"/>
          <p:cNvSpPr txBox="1"/>
          <p:nvPr/>
        </p:nvSpPr>
        <p:spPr>
          <a:xfrm>
            <a:off x="8564880" y="4114800"/>
            <a:ext cx="1554480" cy="640080"/>
          </a:xfrm>
          <a:prstGeom prst="rect">
            <a:avLst/>
          </a:prstGeom>
          <a:noFill/>
          <a:ln/>
        </p:spPr>
        <p:txBody>
          <a:bodyPr wrap="square" lIns="0" tIns="0" rIns="0" bIns="0" rtlCol="0" anchor="t"/>
          <a:lstStyle/>
          <a:p>
            <a:pPr algn="ctr" indent="0" marL="0">
              <a:buNone/>
            </a:pPr>
            <a:r>
              <a:rPr lang="en-US" sz="1400" dirty="0">
                <a:solidFill>
                  <a:schemeClr val="tx1"/>
                </a:solidFill>
              </a:rPr>
              <a:t>Deploy on Vercel</a:t>
            </a:r>
            <a:endParaRPr lang="en-US" sz="1400" dirty="0"/>
          </a:p>
        </p:txBody>
      </p:sp>
      <p:sp>
        <p:nvSpPr>
          <p:cNvPr id="30" name="Shape 27"/>
          <p:cNvSpPr/>
          <p:nvPr/>
        </p:nvSpPr>
        <p:spPr>
          <a:xfrm>
            <a:off x="10698480" y="3017520"/>
            <a:ext cx="548640" cy="548640"/>
          </a:xfrm>
          <a:prstGeom prst="ellipse">
            <a:avLst/>
          </a:prstGeom>
          <a:solidFill>
            <a:schemeClr val="bg1"/>
          </a:solidFill>
          <a:ln w="25400">
            <a:solidFill>
              <a:schemeClr val="accent6"/>
            </a:solidFill>
            <a:prstDash val="solid"/>
          </a:ln>
        </p:spPr>
      </p:sp>
      <p:sp>
        <p:nvSpPr>
          <p:cNvPr id="31" name="Text 28"/>
          <p:cNvSpPr txBox="1"/>
          <p:nvPr/>
        </p:nvSpPr>
        <p:spPr>
          <a:xfrm>
            <a:off x="10698480" y="3017520"/>
            <a:ext cx="548640" cy="548640"/>
          </a:xfrm>
          <a:prstGeom prst="rect">
            <a:avLst/>
          </a:prstGeom>
          <a:noFill/>
          <a:ln/>
        </p:spPr>
        <p:txBody>
          <a:bodyPr wrap="square" lIns="0" tIns="0" rIns="0" bIns="0" rtlCol="0" anchor="ctr"/>
          <a:lstStyle/>
          <a:p>
            <a:pPr algn="ctr" indent="0" marL="0">
              <a:buNone/>
            </a:pPr>
            <a:r>
              <a:rPr lang="en-US" sz="1200" b="1" dirty="0">
                <a:solidFill>
                  <a:schemeClr val="tx2"/>
                </a:solidFill>
              </a:rPr>
              <a:t>M7</a:t>
            </a:r>
            <a:endParaRPr lang="en-US" sz="1200" dirty="0"/>
          </a:p>
        </p:txBody>
      </p:sp>
      <p:sp>
        <p:nvSpPr>
          <p:cNvPr id="32" name="Text 29"/>
          <p:cNvSpPr txBox="1"/>
          <p:nvPr/>
        </p:nvSpPr>
        <p:spPr>
          <a:xfrm>
            <a:off x="10241280" y="1920240"/>
            <a:ext cx="1463040" cy="365760"/>
          </a:xfrm>
          <a:prstGeom prst="rect">
            <a:avLst/>
          </a:prstGeom>
          <a:noFill/>
          <a:ln/>
        </p:spPr>
        <p:txBody>
          <a:bodyPr wrap="square" lIns="0" tIns="0" rIns="0" bIns="0" rtlCol="0" anchor="t"/>
          <a:lstStyle/>
          <a:p>
            <a:pPr algn="ctr" indent="0" marL="0">
              <a:buNone/>
            </a:pPr>
            <a:r>
              <a:rPr lang="en-US" sz="1600" b="1" dirty="0">
                <a:solidFill>
                  <a:schemeClr val="tx2"/>
                </a:solidFill>
              </a:rPr>
              <a:t>[date]</a:t>
            </a:r>
            <a:endParaRPr lang="en-US" sz="1600" dirty="0"/>
          </a:p>
        </p:txBody>
      </p:sp>
      <p:sp>
        <p:nvSpPr>
          <p:cNvPr id="33" name="Text 30"/>
          <p:cNvSpPr txBox="1"/>
          <p:nvPr/>
        </p:nvSpPr>
        <p:spPr>
          <a:xfrm>
            <a:off x="10195560" y="2286000"/>
            <a:ext cx="1554480" cy="640080"/>
          </a:xfrm>
          <a:prstGeom prst="rect">
            <a:avLst/>
          </a:prstGeom>
          <a:noFill/>
          <a:ln/>
        </p:spPr>
        <p:txBody>
          <a:bodyPr wrap="square" lIns="0" tIns="0" rIns="0" bIns="0" rtlCol="0" anchor="t"/>
          <a:lstStyle/>
          <a:p>
            <a:pPr algn="ctr" indent="0" marL="0">
              <a:buNone/>
            </a:pPr>
            <a:r>
              <a:rPr lang="en-US" sz="1400" dirty="0">
                <a:solidFill>
                  <a:schemeClr val="tx1"/>
                </a:solidFill>
              </a:rPr>
              <a:t>Present + sign off</a:t>
            </a:r>
            <a:endParaRPr lang="en-US" sz="1400" dirty="0"/>
          </a:p>
        </p:txBody>
      </p:sp>
      <p:sp>
        <p:nvSpPr>
          <p:cNvPr id="34" name="Text 31"/>
          <p:cNvSpPr txBox="1"/>
          <p:nvPr/>
        </p:nvSpPr>
        <p:spPr>
          <a:xfrm>
            <a:off x="548640" y="5394960"/>
            <a:ext cx="5486400" cy="365760"/>
          </a:xfrm>
          <a:prstGeom prst="rect">
            <a:avLst/>
          </a:prstGeom>
          <a:noFill/>
          <a:ln/>
        </p:spPr>
        <p:txBody>
          <a:bodyPr wrap="square" lIns="0" tIns="0" rIns="0" bIns="0" rtlCol="0" anchor="t"/>
          <a:lstStyle/>
          <a:p>
            <a:pPr indent="0" marL="0">
              <a:buNone/>
            </a:pPr>
            <a:r>
              <a:rPr lang="en-US" sz="1400" dirty="0">
                <a:solidFill>
                  <a:schemeClr val="tx2"/>
                </a:solidFill>
              </a:rPr>
              <a:t>● reached     ○ remaining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Risk management: top risks and responses</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206240"/>
                <a:gridCol w="914400"/>
                <a:gridCol w="3931920"/>
                <a:gridCol w="2011680"/>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Risk</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1B2233"/>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P×I</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1B2233"/>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Response</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1B2233"/>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Status</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1B2233"/>
                    </a:solidFill>
                  </a:tcPr>
                </a:tc>
              </a:tr>
              <a:tr h="548640">
                <a:tc>
                  <a:txBody>
                    <a:bodyPr/>
                    <a:lstStyle/>
                    <a:p>
                      <a:pPr indent="0" marL="0">
                        <a:buNone/>
                      </a:pPr>
                      <a:r>
                        <a:rPr lang="en-US" sz="1500" dirty="0">
                          <a:solidFill>
                            <a:srgbClr val="1B2233"/>
                          </a:solidFill>
                          <a:latin typeface="Calibri" pitchFamily="34" charset="0"/>
                          <a:ea typeface="Calibri" pitchFamily="34" charset="-122"/>
                          <a:cs typeface="Calibri" pitchFamily="34" charset="-120"/>
                        </a:rPr>
                        <a:t>R1 Dutch errors in lessons 4–120</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3F4F7"/>
                    </a:solidFill>
                  </a:tcPr>
                </a:tc>
                <a:tc>
                  <a:txBody>
                    <a:bodyPr/>
                    <a:lstStyle/>
                    <a:p>
                      <a:pPr indent="0" marL="0">
                        <a:buNone/>
                      </a:pPr>
                      <a:r>
                        <a:rPr lang="en-US" sz="1500" b="1" dirty="0">
                          <a:solidFill>
                            <a:srgbClr val="1B2233"/>
                          </a:solidFill>
                          <a:latin typeface="Calibri" pitchFamily="34" charset="0"/>
                          <a:ea typeface="Calibri" pitchFamily="34" charset="-122"/>
                          <a:cs typeface="Calibri" pitchFamily="34" charset="-120"/>
                        </a:rPr>
                        <a:t>16</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3F4F7"/>
                    </a:solidFill>
                  </a:tcPr>
                </a:tc>
                <a:tc>
                  <a:txBody>
                    <a:bodyPr/>
                    <a:lstStyle/>
                    <a:p>
                      <a:pPr indent="0" marL="0">
                        <a:buNone/>
                      </a:pPr>
                      <a:r>
                        <a:rPr lang="en-US" sz="1500" dirty="0">
                          <a:solidFill>
                            <a:srgbClr val="1B2233"/>
                          </a:solidFill>
                          <a:latin typeface="Calibri" pitchFamily="34" charset="0"/>
                          <a:ea typeface="Calibri" pitchFamily="34" charset="-122"/>
                          <a:cs typeface="Calibri" pitchFamily="34" charset="-120"/>
                        </a:rPr>
                        <a:t>Read-through by Dutch speaker</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3F4F7"/>
                    </a:solidFill>
                  </a:tcPr>
                </a:tc>
                <a:tc>
                  <a:txBody>
                    <a:bodyPr/>
                    <a:lstStyle/>
                    <a:p>
                      <a:pPr indent="0" marL="0">
                        <a:buNone/>
                      </a:pPr>
                      <a:r>
                        <a:rPr lang="en-US" sz="1500" b="1" dirty="0">
                          <a:solidFill>
                            <a:srgbClr val="C0392B"/>
                          </a:solidFill>
                          <a:latin typeface="Calibri" pitchFamily="34" charset="0"/>
                          <a:ea typeface="Calibri" pitchFamily="34" charset="-122"/>
                          <a:cs typeface="Calibri" pitchFamily="34" charset="-120"/>
                        </a:rPr>
                        <a:t>Open</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3F4F7"/>
                    </a:solidFill>
                  </a:tcPr>
                </a:tc>
              </a:tr>
              <a:tr h="548640">
                <a:tc>
                  <a:txBody>
                    <a:bodyPr/>
                    <a:lstStyle/>
                    <a:p>
                      <a:pPr indent="0" marL="0">
                        <a:buNone/>
                      </a:pPr>
                      <a:r>
                        <a:rPr lang="en-US" sz="1500" dirty="0">
                          <a:solidFill>
                            <a:srgbClr val="1B2233"/>
                          </a:solidFill>
                          <a:latin typeface="Calibri" pitchFamily="34" charset="0"/>
                          <a:ea typeface="Calibri" pitchFamily="34" charset="-122"/>
                          <a:cs typeface="Calibri" pitchFamily="34" charset="-120"/>
                        </a:rPr>
                        <a:t>R4 Not finished before deadline</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b="1" dirty="0">
                          <a:solidFill>
                            <a:srgbClr val="1B2233"/>
                          </a:solidFill>
                          <a:latin typeface="Calibri" pitchFamily="34" charset="0"/>
                          <a:ea typeface="Calibri" pitchFamily="34" charset="-122"/>
                          <a:cs typeface="Calibri" pitchFamily="34" charset="-120"/>
                        </a:rPr>
                        <a:t>15</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dirty="0">
                          <a:solidFill>
                            <a:srgbClr val="1B2233"/>
                          </a:solidFill>
                          <a:latin typeface="Calibri" pitchFamily="34" charset="0"/>
                          <a:ea typeface="Calibri" pitchFamily="34" charset="-122"/>
                          <a:cs typeface="Calibri" pitchFamily="34" charset="-120"/>
                        </a:rPr>
                        <a:t>MVP first, tooling for speed</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b="1" dirty="0">
                          <a:solidFill>
                            <a:srgbClr val="A0610A"/>
                          </a:solidFill>
                          <a:latin typeface="Calibri" pitchFamily="34" charset="0"/>
                          <a:ea typeface="Calibri" pitchFamily="34" charset="-122"/>
                          <a:cs typeface="Calibri" pitchFamily="34" charset="-120"/>
                        </a:rPr>
                        <a:t>Mostly closed</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r>
              <a:tr h="548640">
                <a:tc>
                  <a:txBody>
                    <a:bodyPr/>
                    <a:lstStyle/>
                    <a:p>
                      <a:pPr indent="0" marL="0">
                        <a:buNone/>
                      </a:pPr>
                      <a:r>
                        <a:rPr lang="en-US" sz="1500" dirty="0">
                          <a:solidFill>
                            <a:srgbClr val="1B2233"/>
                          </a:solidFill>
                          <a:latin typeface="Calibri" pitchFamily="34" charset="0"/>
                          <a:ea typeface="Calibri" pitchFamily="34" charset="-122"/>
                          <a:cs typeface="Calibri" pitchFamily="34" charset="-120"/>
                        </a:rPr>
                        <a:t>R3 Scope creep (accounts, sync…)</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3F4F7"/>
                    </a:solidFill>
                  </a:tcPr>
                </a:tc>
                <a:tc>
                  <a:txBody>
                    <a:bodyPr/>
                    <a:lstStyle/>
                    <a:p>
                      <a:pPr indent="0" marL="0">
                        <a:buNone/>
                      </a:pPr>
                      <a:r>
                        <a:rPr lang="en-US" sz="1500" b="1" dirty="0">
                          <a:solidFill>
                            <a:srgbClr val="1B2233"/>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3F4F7"/>
                    </a:solidFill>
                  </a:tcPr>
                </a:tc>
                <a:tc>
                  <a:txBody>
                    <a:bodyPr/>
                    <a:lstStyle/>
                    <a:p>
                      <a:pPr indent="0" marL="0">
                        <a:buNone/>
                      </a:pPr>
                      <a:r>
                        <a:rPr lang="en-US" sz="1500" dirty="0">
                          <a:solidFill>
                            <a:srgbClr val="1B2233"/>
                          </a:solidFill>
                          <a:latin typeface="Calibri" pitchFamily="34" charset="0"/>
                          <a:ea typeface="Calibri" pitchFamily="34" charset="-122"/>
                          <a:cs typeface="Calibri" pitchFamily="34" charset="-120"/>
                        </a:rPr>
                        <a:t>Out-of-scope list, MoSCoW</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3F4F7"/>
                    </a:solidFill>
                  </a:tcPr>
                </a:tc>
                <a:tc>
                  <a:txBody>
                    <a:bodyPr/>
                    <a:lstStyle/>
                    <a:p>
                      <a:pPr indent="0" marL="0">
                        <a:buNone/>
                      </a:pPr>
                      <a:r>
                        <a:rPr lang="en-US" sz="1500" b="1" dirty="0">
                          <a:solidFill>
                            <a:srgbClr val="A0610A"/>
                          </a:solidFill>
                          <a:latin typeface="Calibri" pitchFamily="34" charset="0"/>
                          <a:ea typeface="Calibri" pitchFamily="34" charset="-122"/>
                          <a:cs typeface="Calibri" pitchFamily="34" charset="-120"/>
                        </a:rPr>
                        <a:t>Controlled</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3F4F7"/>
                    </a:solidFill>
                  </a:tcPr>
                </a:tc>
              </a:tr>
              <a:tr h="548640">
                <a:tc>
                  <a:txBody>
                    <a:bodyPr/>
                    <a:lstStyle/>
                    <a:p>
                      <a:pPr indent="0" marL="0">
                        <a:buNone/>
                      </a:pPr>
                      <a:r>
                        <a:rPr lang="en-US" sz="1500" dirty="0">
                          <a:solidFill>
                            <a:srgbClr val="1B2233"/>
                          </a:solidFill>
                          <a:latin typeface="Calibri" pitchFamily="34" charset="0"/>
                          <a:ea typeface="Calibri" pitchFamily="34" charset="-122"/>
                          <a:cs typeface="Calibri" pitchFamily="34" charset="-120"/>
                        </a:rPr>
                        <a:t>R2 Sentence uses untaught word</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b="1" dirty="0">
                          <a:solidFill>
                            <a:srgbClr val="1B2233"/>
                          </a:solidFill>
                          <a:latin typeface="Calibri" pitchFamily="34" charset="0"/>
                          <a:ea typeface="Calibri" pitchFamily="34" charset="-122"/>
                          <a:cs typeface="Calibri" pitchFamily="34" charset="-120"/>
                        </a:rPr>
                        <a:t>9</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dirty="0">
                          <a:solidFill>
                            <a:srgbClr val="1B2233"/>
                          </a:solidFill>
                          <a:latin typeface="Calibri" pitchFamily="34" charset="0"/>
                          <a:ea typeface="Calibri" pitchFamily="34" charset="-122"/>
                          <a:cs typeface="Calibri" pitchFamily="34" charset="-120"/>
                        </a:rPr>
                        <a:t>Validator in build</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b="1" dirty="0">
                          <a:solidFill>
                            <a:srgbClr val="2E8B57"/>
                          </a:solidFill>
                          <a:latin typeface="Calibri" pitchFamily="34" charset="0"/>
                          <a:ea typeface="Calibri" pitchFamily="34" charset="-122"/>
                          <a:cs typeface="Calibri" pitchFamily="34" charset="-120"/>
                        </a:rPr>
                        <a:t>Closed</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r>
              <a:tr h="548640">
                <a:tc>
                  <a:txBody>
                    <a:bodyPr/>
                    <a:lstStyle/>
                    <a:p>
                      <a:pPr indent="0" marL="0">
                        <a:buNone/>
                      </a:pPr>
                      <a:r>
                        <a:rPr lang="en-US" sz="1500" dirty="0">
                          <a:solidFill>
                            <a:srgbClr val="1B2233"/>
                          </a:solidFill>
                          <a:latin typeface="Calibri" pitchFamily="34" charset="0"/>
                          <a:ea typeface="Calibri" pitchFamily="34" charset="-122"/>
                          <a:cs typeface="Calibri" pitchFamily="34" charset="-120"/>
                        </a:rPr>
                        <a:t>R6 Learner loses browser progress</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3F4F7"/>
                    </a:solidFill>
                  </a:tcPr>
                </a:tc>
                <a:tc>
                  <a:txBody>
                    <a:bodyPr/>
                    <a:lstStyle/>
                    <a:p>
                      <a:pPr indent="0" marL="0">
                        <a:buNone/>
                      </a:pPr>
                      <a:r>
                        <a:rPr lang="en-US" sz="1500" b="1" dirty="0">
                          <a:solidFill>
                            <a:srgbClr val="1B2233"/>
                          </a:solidFill>
                          <a:latin typeface="Calibri" pitchFamily="34" charset="0"/>
                          <a:ea typeface="Calibri" pitchFamily="34" charset="-122"/>
                          <a:cs typeface="Calibri" pitchFamily="34" charset="-120"/>
                        </a:rPr>
                        <a:t>9</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3F4F7"/>
                    </a:solidFill>
                  </a:tcPr>
                </a:tc>
                <a:tc>
                  <a:txBody>
                    <a:bodyPr/>
                    <a:lstStyle/>
                    <a:p>
                      <a:pPr indent="0" marL="0">
                        <a:buNone/>
                      </a:pPr>
                      <a:r>
                        <a:rPr lang="en-US" sz="1500" dirty="0">
                          <a:solidFill>
                            <a:srgbClr val="1B2233"/>
                          </a:solidFill>
                          <a:latin typeface="Calibri" pitchFamily="34" charset="0"/>
                          <a:ea typeface="Calibri" pitchFamily="34" charset="-122"/>
                          <a:cs typeface="Calibri" pitchFamily="34" charset="-120"/>
                        </a:rPr>
                        <a:t>Accepted, explained</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3F4F7"/>
                    </a:solidFill>
                  </a:tcPr>
                </a:tc>
                <a:tc>
                  <a:txBody>
                    <a:bodyPr/>
                    <a:lstStyle/>
                    <a:p>
                      <a:pPr indent="0" marL="0">
                        <a:buNone/>
                      </a:pPr>
                      <a:r>
                        <a:rPr lang="en-US" sz="1500" b="1" dirty="0">
                          <a:solidFill>
                            <a:srgbClr val="7A8296"/>
                          </a:solidFill>
                          <a:latin typeface="Calibri" pitchFamily="34" charset="0"/>
                          <a:ea typeface="Calibri" pitchFamily="34" charset="-122"/>
                          <a:cs typeface="Calibri" pitchFamily="34" charset="-120"/>
                        </a:rPr>
                        <a:t>Accepted</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3F4F7"/>
                    </a:solidFill>
                  </a:tcPr>
                </a:tc>
              </a:tr>
              <a:tr h="548640">
                <a:tc>
                  <a:txBody>
                    <a:bodyPr/>
                    <a:lstStyle/>
                    <a:p>
                      <a:pPr indent="0" marL="0">
                        <a:buNone/>
                      </a:pPr>
                      <a:r>
                        <a:rPr lang="en-US" sz="1500" dirty="0">
                          <a:solidFill>
                            <a:srgbClr val="1B2233"/>
                          </a:solidFill>
                          <a:latin typeface="Calibri" pitchFamily="34" charset="0"/>
                          <a:ea typeface="Calibri" pitchFamily="34" charset="-122"/>
                          <a:cs typeface="Calibri" pitchFamily="34" charset="-120"/>
                        </a:rPr>
                        <a:t>R7 Deployment / hosting fails</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b="1" dirty="0">
                          <a:solidFill>
                            <a:srgbClr val="1B2233"/>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dirty="0">
                          <a:solidFill>
                            <a:srgbClr val="1B2233"/>
                          </a:solidFill>
                          <a:latin typeface="Calibri" pitchFamily="34" charset="0"/>
                          <a:ea typeface="Calibri" pitchFamily="34" charset="-122"/>
                          <a:cs typeface="Calibri" pitchFamily="34" charset="-120"/>
                        </a:rPr>
                        <a:t>Static build, any host works</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b="1" dirty="0">
                          <a:solidFill>
                            <a:srgbClr val="C0392B"/>
                          </a:solidFill>
                          <a:latin typeface="Calibri" pitchFamily="34" charset="0"/>
                          <a:ea typeface="Calibri" pitchFamily="34" charset="-122"/>
                          <a:cs typeface="Calibri" pitchFamily="34" charset="-120"/>
                        </a:rPr>
                        <a:t>Open</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1"/>
          <p:cNvSpPr txBox="1"/>
          <p:nvPr/>
        </p:nvSpPr>
        <p:spPr>
          <a:xfrm>
            <a:off x="548640" y="5760720"/>
            <a:ext cx="10972800" cy="365760"/>
          </a:xfrm>
          <a:prstGeom prst="rect">
            <a:avLst/>
          </a:prstGeom>
          <a:noFill/>
          <a:ln/>
        </p:spPr>
        <p:txBody>
          <a:bodyPr wrap="square" lIns="0" tIns="0" rIns="0" bIns="0" rtlCol="0" anchor="t"/>
          <a:lstStyle/>
          <a:p>
            <a:pPr indent="0" marL="0">
              <a:buNone/>
            </a:pPr>
            <a:r>
              <a:rPr lang="en-US" sz="1200" dirty="0">
                <a:solidFill>
                  <a:schemeClr val="tx2"/>
                </a:solidFill>
              </a:rPr>
              <a:t>Scale 1–5 for probability (P) and impact (I). Full register with 10 risks: 03-risk-register.md</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What we built</a:t>
            </a:r>
            <a:endParaRPr lang="en-US" sz="3400" dirty="0"/>
          </a:p>
        </p:txBody>
      </p:sp>
      <p:sp>
        <p:nvSpPr>
          <p:cNvPr id="4" name="Shape 1"/>
          <p:cNvSpPr/>
          <p:nvPr/>
        </p:nvSpPr>
        <p:spPr>
          <a:xfrm>
            <a:off x="548640" y="1371600"/>
            <a:ext cx="3520440" cy="2148840"/>
          </a:xfrm>
          <a:prstGeom prst="roundRect">
            <a:avLst>
              <a:gd name="adj" fmla="val 5106"/>
            </a:avLst>
          </a:prstGeom>
          <a:solidFill>
            <a:schemeClr val="bg2"/>
          </a:solidFill>
          <a:ln w="12700">
            <a:solidFill>
              <a:schemeClr val="bg2"/>
            </a:solidFill>
            <a:prstDash val="solid"/>
          </a:ln>
        </p:spPr>
      </p:sp>
      <p:sp>
        <p:nvSpPr>
          <p:cNvPr id="5" name="Shape 2"/>
          <p:cNvSpPr/>
          <p:nvPr/>
        </p:nvSpPr>
        <p:spPr>
          <a:xfrm>
            <a:off x="822960" y="1645920"/>
            <a:ext cx="502920" cy="502920"/>
          </a:xfrm>
          <a:prstGeom prst="ellipse">
            <a:avLst/>
          </a:prstGeom>
          <a:solidFill>
            <a:schemeClr val="accent1"/>
          </a:solidFill>
          <a:ln w="12700">
            <a:solidFill>
              <a:schemeClr val="accent1"/>
            </a:solidFill>
            <a:prstDash val="solid"/>
          </a:ln>
        </p:spPr>
      </p:sp>
      <p:sp>
        <p:nvSpPr>
          <p:cNvPr id="6" name="Text 3"/>
          <p:cNvSpPr txBox="1"/>
          <p:nvPr/>
        </p:nvSpPr>
        <p:spPr>
          <a:xfrm>
            <a:off x="822960"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508760" y="1691640"/>
            <a:ext cx="2331720" cy="457200"/>
          </a:xfrm>
          <a:prstGeom prst="rect">
            <a:avLst/>
          </a:prstGeom>
          <a:noFill/>
          <a:ln/>
        </p:spPr>
        <p:txBody>
          <a:bodyPr wrap="square" lIns="0" tIns="0" rIns="0" bIns="0" rtlCol="0" anchor="t"/>
          <a:lstStyle/>
          <a:p>
            <a:pPr indent="0" marL="0">
              <a:buNone/>
            </a:pPr>
            <a:r>
              <a:rPr lang="en-US" sz="1900" b="1" dirty="0">
                <a:solidFill>
                  <a:schemeClr val="tx1"/>
                </a:solidFill>
              </a:rPr>
              <a:t>Daily lesson</a:t>
            </a:r>
            <a:endParaRPr lang="en-US" sz="1900" dirty="0"/>
          </a:p>
        </p:txBody>
      </p:sp>
      <p:sp>
        <p:nvSpPr>
          <p:cNvPr id="8" name="Text 5"/>
          <p:cNvSpPr txBox="1"/>
          <p:nvPr/>
        </p:nvSpPr>
        <p:spPr>
          <a:xfrm>
            <a:off x="822960" y="2377440"/>
            <a:ext cx="2971800" cy="1005840"/>
          </a:xfrm>
          <a:prstGeom prst="rect">
            <a:avLst/>
          </a:prstGeom>
          <a:noFill/>
          <a:ln/>
        </p:spPr>
        <p:txBody>
          <a:bodyPr wrap="square" lIns="0" tIns="0" rIns="0" bIns="0" rtlCol="0" anchor="t"/>
          <a:lstStyle/>
          <a:p>
            <a:pPr indent="0" marL="0">
              <a:buNone/>
            </a:pPr>
            <a:r>
              <a:rPr lang="en-US" sz="1500" dirty="0">
                <a:solidFill>
                  <a:schemeClr val="tx2"/>
                </a:solidFill>
              </a:rPr>
              <a:t>Words → grammar → dialogue, with gap-fill exercises</a:t>
            </a:r>
            <a:endParaRPr lang="en-US" sz="1500" dirty="0"/>
          </a:p>
        </p:txBody>
      </p:sp>
      <p:sp>
        <p:nvSpPr>
          <p:cNvPr id="9" name="Shape 6"/>
          <p:cNvSpPr/>
          <p:nvPr/>
        </p:nvSpPr>
        <p:spPr>
          <a:xfrm>
            <a:off x="4315968" y="1371600"/>
            <a:ext cx="3520440" cy="2148840"/>
          </a:xfrm>
          <a:prstGeom prst="roundRect">
            <a:avLst>
              <a:gd name="adj" fmla="val 5106"/>
            </a:avLst>
          </a:prstGeom>
          <a:solidFill>
            <a:schemeClr val="bg2"/>
          </a:solidFill>
          <a:ln w="12700">
            <a:solidFill>
              <a:schemeClr val="bg2"/>
            </a:solidFill>
            <a:prstDash val="solid"/>
          </a:ln>
        </p:spPr>
      </p:sp>
      <p:sp>
        <p:nvSpPr>
          <p:cNvPr id="10" name="Shape 7"/>
          <p:cNvSpPr/>
          <p:nvPr/>
        </p:nvSpPr>
        <p:spPr>
          <a:xfrm>
            <a:off x="4590288" y="1645920"/>
            <a:ext cx="502920" cy="502920"/>
          </a:xfrm>
          <a:prstGeom prst="ellipse">
            <a:avLst/>
          </a:prstGeom>
          <a:solidFill>
            <a:schemeClr val="accent1"/>
          </a:solidFill>
          <a:ln w="12700">
            <a:solidFill>
              <a:schemeClr val="accent1"/>
            </a:solidFill>
            <a:prstDash val="solid"/>
          </a:ln>
        </p:spPr>
      </p:sp>
      <p:sp>
        <p:nvSpPr>
          <p:cNvPr id="11" name="Text 8"/>
          <p:cNvSpPr txBox="1"/>
          <p:nvPr/>
        </p:nvSpPr>
        <p:spPr>
          <a:xfrm>
            <a:off x="4590288"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5276088" y="1691640"/>
            <a:ext cx="2331720" cy="457200"/>
          </a:xfrm>
          <a:prstGeom prst="rect">
            <a:avLst/>
          </a:prstGeom>
          <a:noFill/>
          <a:ln/>
        </p:spPr>
        <p:txBody>
          <a:bodyPr wrap="square" lIns="0" tIns="0" rIns="0" bIns="0" rtlCol="0" anchor="t"/>
          <a:lstStyle/>
          <a:p>
            <a:pPr indent="0" marL="0">
              <a:buNone/>
            </a:pPr>
            <a:r>
              <a:rPr lang="en-US" sz="1900" b="1" dirty="0">
                <a:solidFill>
                  <a:schemeClr val="tx1"/>
                </a:solidFill>
              </a:rPr>
              <a:t>Review</a:t>
            </a:r>
            <a:endParaRPr lang="en-US" sz="1900" dirty="0"/>
          </a:p>
        </p:txBody>
      </p:sp>
      <p:sp>
        <p:nvSpPr>
          <p:cNvPr id="13" name="Text 10"/>
          <p:cNvSpPr txBox="1"/>
          <p:nvPr/>
        </p:nvSpPr>
        <p:spPr>
          <a:xfrm>
            <a:off x="4590288" y="2377440"/>
            <a:ext cx="2971800" cy="1005840"/>
          </a:xfrm>
          <a:prstGeom prst="rect">
            <a:avLst/>
          </a:prstGeom>
          <a:noFill/>
          <a:ln/>
        </p:spPr>
        <p:txBody>
          <a:bodyPr wrap="square" lIns="0" tIns="0" rIns="0" bIns="0" rtlCol="0" anchor="t"/>
          <a:lstStyle/>
          <a:p>
            <a:pPr indent="0" marL="0">
              <a:buNone/>
            </a:pPr>
            <a:r>
              <a:rPr lang="en-US" sz="1500" dirty="0">
                <a:solidFill>
                  <a:schemeClr val="tx2"/>
                </a:solidFill>
              </a:rPr>
              <a:t>Spaced repetition: 8 boxes, 1 to 60-day gaps</a:t>
            </a:r>
            <a:endParaRPr lang="en-US" sz="1500" dirty="0"/>
          </a:p>
        </p:txBody>
      </p:sp>
      <p:sp>
        <p:nvSpPr>
          <p:cNvPr id="14" name="Shape 11"/>
          <p:cNvSpPr/>
          <p:nvPr/>
        </p:nvSpPr>
        <p:spPr>
          <a:xfrm>
            <a:off x="8083296" y="1371600"/>
            <a:ext cx="3520440" cy="2148840"/>
          </a:xfrm>
          <a:prstGeom prst="roundRect">
            <a:avLst>
              <a:gd name="adj" fmla="val 5106"/>
            </a:avLst>
          </a:prstGeom>
          <a:solidFill>
            <a:schemeClr val="bg2"/>
          </a:solidFill>
          <a:ln w="12700">
            <a:solidFill>
              <a:schemeClr val="bg2"/>
            </a:solidFill>
            <a:prstDash val="solid"/>
          </a:ln>
        </p:spPr>
      </p:sp>
      <p:sp>
        <p:nvSpPr>
          <p:cNvPr id="15" name="Shape 12"/>
          <p:cNvSpPr/>
          <p:nvPr/>
        </p:nvSpPr>
        <p:spPr>
          <a:xfrm>
            <a:off x="8357616" y="1645920"/>
            <a:ext cx="502920" cy="502920"/>
          </a:xfrm>
          <a:prstGeom prst="ellipse">
            <a:avLst/>
          </a:prstGeom>
          <a:solidFill>
            <a:schemeClr val="accent1"/>
          </a:solidFill>
          <a:ln w="12700">
            <a:solidFill>
              <a:schemeClr val="accent1"/>
            </a:solidFill>
            <a:prstDash val="solid"/>
          </a:ln>
        </p:spPr>
      </p:sp>
      <p:sp>
        <p:nvSpPr>
          <p:cNvPr id="16" name="Text 13"/>
          <p:cNvSpPr txBox="1"/>
          <p:nvPr/>
        </p:nvSpPr>
        <p:spPr>
          <a:xfrm>
            <a:off x="8357616"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4"/>
          <p:cNvSpPr txBox="1"/>
          <p:nvPr/>
        </p:nvSpPr>
        <p:spPr>
          <a:xfrm>
            <a:off x="9043416" y="1691640"/>
            <a:ext cx="2331720" cy="457200"/>
          </a:xfrm>
          <a:prstGeom prst="rect">
            <a:avLst/>
          </a:prstGeom>
          <a:noFill/>
          <a:ln/>
        </p:spPr>
        <p:txBody>
          <a:bodyPr wrap="square" lIns="0" tIns="0" rIns="0" bIns="0" rtlCol="0" anchor="t"/>
          <a:lstStyle/>
          <a:p>
            <a:pPr indent="0" marL="0">
              <a:buNone/>
            </a:pPr>
            <a:r>
              <a:rPr lang="en-US" sz="1900" b="1" dirty="0">
                <a:solidFill>
                  <a:schemeClr val="tx1"/>
                </a:solidFill>
              </a:rPr>
              <a:t>Home</a:t>
            </a:r>
            <a:endParaRPr lang="en-US" sz="1900" dirty="0"/>
          </a:p>
        </p:txBody>
      </p:sp>
      <p:sp>
        <p:nvSpPr>
          <p:cNvPr id="18" name="Text 15"/>
          <p:cNvSpPr txBox="1"/>
          <p:nvPr/>
        </p:nvSpPr>
        <p:spPr>
          <a:xfrm>
            <a:off x="8357616" y="2377440"/>
            <a:ext cx="2971800" cy="1005840"/>
          </a:xfrm>
          <a:prstGeom prst="rect">
            <a:avLst/>
          </a:prstGeom>
          <a:noFill/>
          <a:ln/>
        </p:spPr>
        <p:txBody>
          <a:bodyPr wrap="square" lIns="0" tIns="0" rIns="0" bIns="0" rtlCol="0" anchor="t"/>
          <a:lstStyle/>
          <a:p>
            <a:pPr indent="0" marL="0">
              <a:buNone/>
            </a:pPr>
            <a:r>
              <a:rPr lang="en-US" sz="1500" dirty="0">
                <a:solidFill>
                  <a:schemeClr val="tx2"/>
                </a:solidFill>
              </a:rPr>
              <a:t>Today's lesson, words due, streak, words known</a:t>
            </a:r>
            <a:endParaRPr lang="en-US" sz="1500" dirty="0"/>
          </a:p>
        </p:txBody>
      </p:sp>
      <p:sp>
        <p:nvSpPr>
          <p:cNvPr id="19" name="Shape 16"/>
          <p:cNvSpPr/>
          <p:nvPr/>
        </p:nvSpPr>
        <p:spPr>
          <a:xfrm>
            <a:off x="548640" y="3767328"/>
            <a:ext cx="3520440" cy="2148840"/>
          </a:xfrm>
          <a:prstGeom prst="roundRect">
            <a:avLst>
              <a:gd name="adj" fmla="val 5106"/>
            </a:avLst>
          </a:prstGeom>
          <a:solidFill>
            <a:schemeClr val="bg2"/>
          </a:solidFill>
          <a:ln w="12700">
            <a:solidFill>
              <a:schemeClr val="bg2"/>
            </a:solidFill>
            <a:prstDash val="solid"/>
          </a:ln>
        </p:spPr>
      </p:sp>
      <p:sp>
        <p:nvSpPr>
          <p:cNvPr id="20" name="Shape 17"/>
          <p:cNvSpPr/>
          <p:nvPr/>
        </p:nvSpPr>
        <p:spPr>
          <a:xfrm>
            <a:off x="822960" y="4041648"/>
            <a:ext cx="502920" cy="502920"/>
          </a:xfrm>
          <a:prstGeom prst="ellipse">
            <a:avLst/>
          </a:prstGeom>
          <a:solidFill>
            <a:schemeClr val="accent1"/>
          </a:solidFill>
          <a:ln w="12700">
            <a:solidFill>
              <a:schemeClr val="accent1"/>
            </a:solidFill>
            <a:prstDash val="solid"/>
          </a:ln>
        </p:spPr>
      </p:sp>
      <p:sp>
        <p:nvSpPr>
          <p:cNvPr id="21" name="Text 18"/>
          <p:cNvSpPr txBox="1"/>
          <p:nvPr/>
        </p:nvSpPr>
        <p:spPr>
          <a:xfrm>
            <a:off x="822960" y="404164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19"/>
          <p:cNvSpPr txBox="1"/>
          <p:nvPr/>
        </p:nvSpPr>
        <p:spPr>
          <a:xfrm>
            <a:off x="1508760" y="4087368"/>
            <a:ext cx="2331720" cy="457200"/>
          </a:xfrm>
          <a:prstGeom prst="rect">
            <a:avLst/>
          </a:prstGeom>
          <a:noFill/>
          <a:ln/>
        </p:spPr>
        <p:txBody>
          <a:bodyPr wrap="square" lIns="0" tIns="0" rIns="0" bIns="0" rtlCol="0" anchor="t"/>
          <a:lstStyle/>
          <a:p>
            <a:pPr indent="0" marL="0">
              <a:buNone/>
            </a:pPr>
            <a:r>
              <a:rPr lang="en-US" sz="1900" b="1" dirty="0">
                <a:solidFill>
                  <a:schemeClr val="tx1"/>
                </a:solidFill>
              </a:rPr>
              <a:t>My words</a:t>
            </a:r>
            <a:endParaRPr lang="en-US" sz="1900" dirty="0"/>
          </a:p>
        </p:txBody>
      </p:sp>
      <p:sp>
        <p:nvSpPr>
          <p:cNvPr id="23" name="Text 20"/>
          <p:cNvSpPr txBox="1"/>
          <p:nvPr/>
        </p:nvSpPr>
        <p:spPr>
          <a:xfrm>
            <a:off x="822960" y="4773168"/>
            <a:ext cx="2971800" cy="1005840"/>
          </a:xfrm>
          <a:prstGeom prst="rect">
            <a:avLst/>
          </a:prstGeom>
          <a:noFill/>
          <a:ln/>
        </p:spPr>
        <p:txBody>
          <a:bodyPr wrap="square" lIns="0" tIns="0" rIns="0" bIns="0" rtlCol="0" anchor="t"/>
          <a:lstStyle/>
          <a:p>
            <a:pPr indent="0" marL="0">
              <a:buNone/>
            </a:pPr>
            <a:r>
              <a:rPr lang="en-US" sz="1500" dirty="0">
                <a:solidFill>
                  <a:schemeClr val="tx2"/>
                </a:solidFill>
              </a:rPr>
              <a:t>Add your own words to the review</a:t>
            </a:r>
            <a:endParaRPr lang="en-US" sz="1500" dirty="0"/>
          </a:p>
        </p:txBody>
      </p:sp>
      <p:sp>
        <p:nvSpPr>
          <p:cNvPr id="24" name="Shape 21"/>
          <p:cNvSpPr/>
          <p:nvPr/>
        </p:nvSpPr>
        <p:spPr>
          <a:xfrm>
            <a:off x="4315968" y="3767328"/>
            <a:ext cx="3520440" cy="2148840"/>
          </a:xfrm>
          <a:prstGeom prst="roundRect">
            <a:avLst>
              <a:gd name="adj" fmla="val 5106"/>
            </a:avLst>
          </a:prstGeom>
          <a:solidFill>
            <a:schemeClr val="bg2"/>
          </a:solidFill>
          <a:ln w="12700">
            <a:solidFill>
              <a:schemeClr val="bg2"/>
            </a:solidFill>
            <a:prstDash val="solid"/>
          </a:ln>
        </p:spPr>
      </p:sp>
      <p:sp>
        <p:nvSpPr>
          <p:cNvPr id="25" name="Shape 22"/>
          <p:cNvSpPr/>
          <p:nvPr/>
        </p:nvSpPr>
        <p:spPr>
          <a:xfrm>
            <a:off x="4590288" y="4041648"/>
            <a:ext cx="502920" cy="502920"/>
          </a:xfrm>
          <a:prstGeom prst="ellipse">
            <a:avLst/>
          </a:prstGeom>
          <a:solidFill>
            <a:schemeClr val="accent1"/>
          </a:solidFill>
          <a:ln w="12700">
            <a:solidFill>
              <a:schemeClr val="accent1"/>
            </a:solidFill>
            <a:prstDash val="solid"/>
          </a:ln>
        </p:spPr>
      </p:sp>
      <p:sp>
        <p:nvSpPr>
          <p:cNvPr id="26" name="Text 23"/>
          <p:cNvSpPr txBox="1"/>
          <p:nvPr/>
        </p:nvSpPr>
        <p:spPr>
          <a:xfrm>
            <a:off x="4590288" y="404164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7" name="Text 24"/>
          <p:cNvSpPr txBox="1"/>
          <p:nvPr/>
        </p:nvSpPr>
        <p:spPr>
          <a:xfrm>
            <a:off x="5276088" y="4087368"/>
            <a:ext cx="2331720" cy="457200"/>
          </a:xfrm>
          <a:prstGeom prst="rect">
            <a:avLst/>
          </a:prstGeom>
          <a:noFill/>
          <a:ln/>
        </p:spPr>
        <p:txBody>
          <a:bodyPr wrap="square" lIns="0" tIns="0" rIns="0" bIns="0" rtlCol="0" anchor="t"/>
          <a:lstStyle/>
          <a:p>
            <a:pPr indent="0" marL="0">
              <a:buNone/>
            </a:pPr>
            <a:r>
              <a:rPr lang="en-US" sz="1900" b="1" dirty="0">
                <a:solidFill>
                  <a:schemeClr val="tx1"/>
                </a:solidFill>
              </a:rPr>
              <a:t>Listen + Sounds</a:t>
            </a:r>
            <a:endParaRPr lang="en-US" sz="1900" dirty="0"/>
          </a:p>
        </p:txBody>
      </p:sp>
      <p:sp>
        <p:nvSpPr>
          <p:cNvPr id="28" name="Text 25"/>
          <p:cNvSpPr txBox="1"/>
          <p:nvPr/>
        </p:nvSpPr>
        <p:spPr>
          <a:xfrm>
            <a:off x="4590288" y="4773168"/>
            <a:ext cx="2971800" cy="1005840"/>
          </a:xfrm>
          <a:prstGeom prst="rect">
            <a:avLst/>
          </a:prstGeom>
          <a:noFill/>
          <a:ln/>
        </p:spPr>
        <p:txBody>
          <a:bodyPr wrap="square" lIns="0" tIns="0" rIns="0" bIns="0" rtlCol="0" anchor="t"/>
          <a:lstStyle/>
          <a:p>
            <a:pPr indent="0" marL="0">
              <a:buNone/>
            </a:pPr>
            <a:r>
              <a:rPr lang="en-US" sz="1500" dirty="0">
                <a:solidFill>
                  <a:schemeClr val="tx2"/>
                </a:solidFill>
              </a:rPr>
              <a:t>Dutch speech voice; pronunciation rules page</a:t>
            </a:r>
            <a:endParaRPr lang="en-US" sz="1500" dirty="0"/>
          </a:p>
        </p:txBody>
      </p:sp>
      <p:sp>
        <p:nvSpPr>
          <p:cNvPr id="29" name="Shape 26"/>
          <p:cNvSpPr/>
          <p:nvPr/>
        </p:nvSpPr>
        <p:spPr>
          <a:xfrm>
            <a:off x="8083296" y="3767328"/>
            <a:ext cx="3520440" cy="2148840"/>
          </a:xfrm>
          <a:prstGeom prst="roundRect">
            <a:avLst>
              <a:gd name="adj" fmla="val 5106"/>
            </a:avLst>
          </a:prstGeom>
          <a:solidFill>
            <a:schemeClr val="bg2"/>
          </a:solidFill>
          <a:ln w="12700">
            <a:solidFill>
              <a:schemeClr val="bg2"/>
            </a:solidFill>
            <a:prstDash val="solid"/>
          </a:ln>
        </p:spPr>
      </p:sp>
      <p:sp>
        <p:nvSpPr>
          <p:cNvPr id="30" name="Shape 27"/>
          <p:cNvSpPr/>
          <p:nvPr/>
        </p:nvSpPr>
        <p:spPr>
          <a:xfrm>
            <a:off x="8357616" y="4041648"/>
            <a:ext cx="502920" cy="502920"/>
          </a:xfrm>
          <a:prstGeom prst="ellipse">
            <a:avLst/>
          </a:prstGeom>
          <a:solidFill>
            <a:schemeClr val="accent1"/>
          </a:solidFill>
          <a:ln w="12700">
            <a:solidFill>
              <a:schemeClr val="accent1"/>
            </a:solidFill>
            <a:prstDash val="solid"/>
          </a:ln>
        </p:spPr>
      </p:sp>
      <p:sp>
        <p:nvSpPr>
          <p:cNvPr id="31" name="Text 28"/>
          <p:cNvSpPr txBox="1"/>
          <p:nvPr/>
        </p:nvSpPr>
        <p:spPr>
          <a:xfrm>
            <a:off x="8357616" y="404164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2" name="Text 29"/>
          <p:cNvSpPr txBox="1"/>
          <p:nvPr/>
        </p:nvSpPr>
        <p:spPr>
          <a:xfrm>
            <a:off x="9043416" y="4087368"/>
            <a:ext cx="2331720" cy="457200"/>
          </a:xfrm>
          <a:prstGeom prst="rect">
            <a:avLst/>
          </a:prstGeom>
          <a:noFill/>
          <a:ln/>
        </p:spPr>
        <p:txBody>
          <a:bodyPr wrap="square" lIns="0" tIns="0" rIns="0" bIns="0" rtlCol="0" anchor="t"/>
          <a:lstStyle/>
          <a:p>
            <a:pPr indent="0" marL="0">
              <a:buNone/>
            </a:pPr>
            <a:r>
              <a:rPr lang="en-US" sz="1900" b="1" dirty="0">
                <a:solidFill>
                  <a:schemeClr val="tx1"/>
                </a:solidFill>
              </a:rPr>
              <a:t>Works offline</a:t>
            </a:r>
            <a:endParaRPr lang="en-US" sz="1900" dirty="0"/>
          </a:p>
        </p:txBody>
      </p:sp>
      <p:sp>
        <p:nvSpPr>
          <p:cNvPr id="33" name="Text 30"/>
          <p:cNvSpPr txBox="1"/>
          <p:nvPr/>
        </p:nvSpPr>
        <p:spPr>
          <a:xfrm>
            <a:off x="8357616" y="4773168"/>
            <a:ext cx="2971800" cy="1005840"/>
          </a:xfrm>
          <a:prstGeom prst="rect">
            <a:avLst/>
          </a:prstGeom>
          <a:noFill/>
          <a:ln/>
        </p:spPr>
        <p:txBody>
          <a:bodyPr wrap="square" lIns="0" tIns="0" rIns="0" bIns="0" rtlCol="0" anchor="t"/>
          <a:lstStyle/>
          <a:p>
            <a:pPr indent="0" marL="0">
              <a:buNone/>
            </a:pPr>
            <a:r>
              <a:rPr lang="en-US" sz="1500" dirty="0">
                <a:solidFill>
                  <a:schemeClr val="tx2"/>
                </a:solidFill>
              </a:rPr>
              <a:t>Install on phone (PWA), no login, no backend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How we built 120 lessons fast and safely</a:t>
            </a:r>
            <a:endParaRPr lang="en-US" sz="3400" dirty="0"/>
          </a:p>
        </p:txBody>
      </p:sp>
      <p:sp>
        <p:nvSpPr>
          <p:cNvPr id="4" name="Shape 1"/>
          <p:cNvSpPr/>
          <p:nvPr/>
        </p:nvSpPr>
        <p:spPr>
          <a:xfrm>
            <a:off x="548640" y="1554480"/>
            <a:ext cx="2514600" cy="3291840"/>
          </a:xfrm>
          <a:prstGeom prst="roundRect">
            <a:avLst>
              <a:gd name="adj" fmla="val 4364"/>
            </a:avLst>
          </a:prstGeom>
          <a:solidFill>
            <a:schemeClr val="bg2"/>
          </a:solidFill>
          <a:ln w="12700">
            <a:solidFill>
              <a:schemeClr val="bg2"/>
            </a:solidFill>
            <a:prstDash val="solid"/>
          </a:ln>
        </p:spPr>
      </p:sp>
      <p:sp>
        <p:nvSpPr>
          <p:cNvPr id="5" name="Shape 2"/>
          <p:cNvSpPr/>
          <p:nvPr/>
        </p:nvSpPr>
        <p:spPr>
          <a:xfrm>
            <a:off x="822960" y="1828800"/>
            <a:ext cx="502920" cy="502920"/>
          </a:xfrm>
          <a:prstGeom prst="ellipse">
            <a:avLst/>
          </a:prstGeom>
          <a:solidFill>
            <a:schemeClr val="accent1"/>
          </a:solidFill>
          <a:ln w="12700">
            <a:solidFill>
              <a:schemeClr val="accent1"/>
            </a:solidFill>
            <a:prstDash val="solid"/>
          </a:ln>
        </p:spPr>
      </p:sp>
      <p:sp>
        <p:nvSpPr>
          <p:cNvPr id="6" name="Text 3"/>
          <p:cNvSpPr txBox="1"/>
          <p:nvPr/>
        </p:nvSpPr>
        <p:spPr>
          <a:xfrm>
            <a:off x="822960" y="1828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822960" y="2560320"/>
            <a:ext cx="1965960" cy="457200"/>
          </a:xfrm>
          <a:prstGeom prst="rect">
            <a:avLst/>
          </a:prstGeom>
          <a:noFill/>
          <a:ln/>
        </p:spPr>
        <p:txBody>
          <a:bodyPr wrap="square" lIns="0" tIns="0" rIns="0" bIns="0" rtlCol="0" anchor="t"/>
          <a:lstStyle/>
          <a:p>
            <a:pPr indent="0" marL="0">
              <a:buNone/>
            </a:pPr>
            <a:r>
              <a:rPr lang="en-US" sz="2000" b="1" dirty="0">
                <a:solidFill>
                  <a:schemeClr val="tx1"/>
                </a:solidFill>
              </a:rPr>
              <a:t>Open data</a:t>
            </a:r>
            <a:endParaRPr lang="en-US" sz="2000" dirty="0"/>
          </a:p>
        </p:txBody>
      </p:sp>
      <p:sp>
        <p:nvSpPr>
          <p:cNvPr id="8" name="Text 5"/>
          <p:cNvSpPr txBox="1"/>
          <p:nvPr/>
        </p:nvSpPr>
        <p:spPr>
          <a:xfrm>
            <a:off x="822960" y="3108960"/>
            <a:ext cx="1965960" cy="1645920"/>
          </a:xfrm>
          <a:prstGeom prst="rect">
            <a:avLst/>
          </a:prstGeom>
          <a:noFill/>
          <a:ln/>
        </p:spPr>
        <p:txBody>
          <a:bodyPr wrap="square" lIns="0" tIns="0" rIns="0" bIns="0" rtlCol="0" anchor="t"/>
          <a:lstStyle/>
          <a:p>
            <a:pPr indent="0" marL="0">
              <a:buNone/>
            </a:pPr>
            <a:r>
              <a:rPr lang="en-US" sz="1500" dirty="0">
                <a:solidFill>
                  <a:schemeClr val="tx2"/>
                </a:solidFill>
              </a:rPr>
              <a:t>Frequency list + Wiktionary → word list with articles, plurals, verb forms</a:t>
            </a:r>
            <a:endParaRPr lang="en-US" sz="1500" dirty="0"/>
          </a:p>
        </p:txBody>
      </p:sp>
      <p:sp>
        <p:nvSpPr>
          <p:cNvPr id="9" name="Text 6"/>
          <p:cNvSpPr txBox="1"/>
          <p:nvPr/>
        </p:nvSpPr>
        <p:spPr>
          <a:xfrm>
            <a:off x="3063240" y="2926080"/>
            <a:ext cx="338328" cy="457200"/>
          </a:xfrm>
          <a:prstGeom prst="rect">
            <a:avLst/>
          </a:prstGeom>
          <a:noFill/>
          <a:ln/>
        </p:spPr>
        <p:txBody>
          <a:bodyPr wrap="square" lIns="0" tIns="0" rIns="0" bIns="0" rtlCol="0" anchor="t"/>
          <a:lstStyle/>
          <a:p>
            <a:pPr algn="ctr" indent="0" marL="0">
              <a:buNone/>
            </a:pPr>
            <a:r>
              <a:rPr lang="en-US" sz="2200" b="1" dirty="0">
                <a:solidFill>
                  <a:schemeClr val="accent1"/>
                </a:solidFill>
              </a:rPr>
              <a:t>→</a:t>
            </a:r>
            <a:endParaRPr lang="en-US" sz="2200" dirty="0"/>
          </a:p>
        </p:txBody>
      </p:sp>
      <p:sp>
        <p:nvSpPr>
          <p:cNvPr id="10" name="Shape 7"/>
          <p:cNvSpPr/>
          <p:nvPr/>
        </p:nvSpPr>
        <p:spPr>
          <a:xfrm>
            <a:off x="3401568" y="1554480"/>
            <a:ext cx="2514600" cy="3291840"/>
          </a:xfrm>
          <a:prstGeom prst="roundRect">
            <a:avLst>
              <a:gd name="adj" fmla="val 4364"/>
            </a:avLst>
          </a:prstGeom>
          <a:solidFill>
            <a:schemeClr val="bg2"/>
          </a:solidFill>
          <a:ln w="12700">
            <a:solidFill>
              <a:schemeClr val="bg2"/>
            </a:solidFill>
            <a:prstDash val="solid"/>
          </a:ln>
        </p:spPr>
      </p:sp>
      <p:sp>
        <p:nvSpPr>
          <p:cNvPr id="11" name="Shape 8"/>
          <p:cNvSpPr/>
          <p:nvPr/>
        </p:nvSpPr>
        <p:spPr>
          <a:xfrm>
            <a:off x="3675888" y="1828800"/>
            <a:ext cx="502920" cy="502920"/>
          </a:xfrm>
          <a:prstGeom prst="ellipse">
            <a:avLst/>
          </a:prstGeom>
          <a:solidFill>
            <a:schemeClr val="accent1"/>
          </a:solidFill>
          <a:ln w="12700">
            <a:solidFill>
              <a:schemeClr val="accent1"/>
            </a:solidFill>
            <a:prstDash val="solid"/>
          </a:ln>
        </p:spPr>
      </p:sp>
      <p:sp>
        <p:nvSpPr>
          <p:cNvPr id="12" name="Text 9"/>
          <p:cNvSpPr txBox="1"/>
          <p:nvPr/>
        </p:nvSpPr>
        <p:spPr>
          <a:xfrm>
            <a:off x="3675888" y="1828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0"/>
          <p:cNvSpPr txBox="1"/>
          <p:nvPr/>
        </p:nvSpPr>
        <p:spPr>
          <a:xfrm>
            <a:off x="3675888" y="2560320"/>
            <a:ext cx="1965960" cy="457200"/>
          </a:xfrm>
          <a:prstGeom prst="rect">
            <a:avLst/>
          </a:prstGeom>
          <a:noFill/>
          <a:ln/>
        </p:spPr>
        <p:txBody>
          <a:bodyPr wrap="square" lIns="0" tIns="0" rIns="0" bIns="0" rtlCol="0" anchor="t"/>
          <a:lstStyle/>
          <a:p>
            <a:pPr indent="0" marL="0">
              <a:buNone/>
            </a:pPr>
            <a:r>
              <a:rPr lang="en-US" sz="2000" b="1" dirty="0">
                <a:solidFill>
                  <a:schemeClr val="tx1"/>
                </a:solidFill>
              </a:rPr>
              <a:t>Coverage</a:t>
            </a:r>
            <a:endParaRPr lang="en-US" sz="2000" dirty="0"/>
          </a:p>
        </p:txBody>
      </p:sp>
      <p:sp>
        <p:nvSpPr>
          <p:cNvPr id="14" name="Text 11"/>
          <p:cNvSpPr txBox="1"/>
          <p:nvPr/>
        </p:nvSpPr>
        <p:spPr>
          <a:xfrm>
            <a:off x="3675888" y="3108960"/>
            <a:ext cx="1965960" cy="1645920"/>
          </a:xfrm>
          <a:prstGeom prst="rect">
            <a:avLst/>
          </a:prstGeom>
          <a:noFill/>
          <a:ln/>
        </p:spPr>
        <p:txBody>
          <a:bodyPr wrap="square" lIns="0" tIns="0" rIns="0" bIns="0" rtlCol="0" anchor="t"/>
          <a:lstStyle/>
          <a:p>
            <a:pPr indent="0" marL="0">
              <a:buNone/>
            </a:pPr>
            <a:r>
              <a:rPr lang="en-US" sz="1500" dirty="0">
                <a:solidFill>
                  <a:schemeClr val="tx2"/>
                </a:solidFill>
              </a:rPr>
              <a:t>Script picks the most frequent words not yet taught</a:t>
            </a:r>
            <a:endParaRPr lang="en-US" sz="1500" dirty="0"/>
          </a:p>
        </p:txBody>
      </p:sp>
      <p:sp>
        <p:nvSpPr>
          <p:cNvPr id="15" name="Text 12"/>
          <p:cNvSpPr txBox="1"/>
          <p:nvPr/>
        </p:nvSpPr>
        <p:spPr>
          <a:xfrm>
            <a:off x="5916168" y="2926080"/>
            <a:ext cx="338328" cy="457200"/>
          </a:xfrm>
          <a:prstGeom prst="rect">
            <a:avLst/>
          </a:prstGeom>
          <a:noFill/>
          <a:ln/>
        </p:spPr>
        <p:txBody>
          <a:bodyPr wrap="square" lIns="0" tIns="0" rIns="0" bIns="0" rtlCol="0" anchor="t"/>
          <a:lstStyle/>
          <a:p>
            <a:pPr algn="ctr" indent="0" marL="0">
              <a:buNone/>
            </a:pPr>
            <a:r>
              <a:rPr lang="en-US" sz="2200" b="1" dirty="0">
                <a:solidFill>
                  <a:schemeClr val="accent1"/>
                </a:solidFill>
              </a:rPr>
              <a:t>→</a:t>
            </a:r>
            <a:endParaRPr lang="en-US" sz="2200" dirty="0"/>
          </a:p>
        </p:txBody>
      </p:sp>
      <p:sp>
        <p:nvSpPr>
          <p:cNvPr id="16" name="Shape 13"/>
          <p:cNvSpPr/>
          <p:nvPr/>
        </p:nvSpPr>
        <p:spPr>
          <a:xfrm>
            <a:off x="6254496" y="1554480"/>
            <a:ext cx="2514600" cy="3291840"/>
          </a:xfrm>
          <a:prstGeom prst="roundRect">
            <a:avLst>
              <a:gd name="adj" fmla="val 4364"/>
            </a:avLst>
          </a:prstGeom>
          <a:solidFill>
            <a:schemeClr val="bg2"/>
          </a:solidFill>
          <a:ln w="12700">
            <a:solidFill>
              <a:schemeClr val="bg2"/>
            </a:solidFill>
            <a:prstDash val="solid"/>
          </a:ln>
        </p:spPr>
      </p:sp>
      <p:sp>
        <p:nvSpPr>
          <p:cNvPr id="17" name="Shape 14"/>
          <p:cNvSpPr/>
          <p:nvPr/>
        </p:nvSpPr>
        <p:spPr>
          <a:xfrm>
            <a:off x="6528816" y="1828800"/>
            <a:ext cx="502920" cy="502920"/>
          </a:xfrm>
          <a:prstGeom prst="ellipse">
            <a:avLst/>
          </a:prstGeom>
          <a:solidFill>
            <a:schemeClr val="accent1"/>
          </a:solidFill>
          <a:ln w="12700">
            <a:solidFill>
              <a:schemeClr val="accent1"/>
            </a:solidFill>
            <a:prstDash val="solid"/>
          </a:ln>
        </p:spPr>
      </p:sp>
      <p:sp>
        <p:nvSpPr>
          <p:cNvPr id="18" name="Text 15"/>
          <p:cNvSpPr txBox="1"/>
          <p:nvPr/>
        </p:nvSpPr>
        <p:spPr>
          <a:xfrm>
            <a:off x="6528816" y="1828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Text 16"/>
          <p:cNvSpPr txBox="1"/>
          <p:nvPr/>
        </p:nvSpPr>
        <p:spPr>
          <a:xfrm>
            <a:off x="6528816" y="2560320"/>
            <a:ext cx="1965960" cy="457200"/>
          </a:xfrm>
          <a:prstGeom prst="rect">
            <a:avLst/>
          </a:prstGeom>
          <a:noFill/>
          <a:ln/>
        </p:spPr>
        <p:txBody>
          <a:bodyPr wrap="square" lIns="0" tIns="0" rIns="0" bIns="0" rtlCol="0" anchor="t"/>
          <a:lstStyle/>
          <a:p>
            <a:pPr indent="0" marL="0">
              <a:buNone/>
            </a:pPr>
            <a:r>
              <a:rPr lang="en-US" sz="2000" b="1" dirty="0">
                <a:solidFill>
                  <a:schemeClr val="tx1"/>
                </a:solidFill>
              </a:rPr>
              <a:t>Write</a:t>
            </a:r>
            <a:endParaRPr lang="en-US" sz="2000" dirty="0"/>
          </a:p>
        </p:txBody>
      </p:sp>
      <p:sp>
        <p:nvSpPr>
          <p:cNvPr id="20" name="Text 17"/>
          <p:cNvSpPr txBox="1"/>
          <p:nvPr/>
        </p:nvSpPr>
        <p:spPr>
          <a:xfrm>
            <a:off x="6528816" y="3108960"/>
            <a:ext cx="1965960" cy="1645920"/>
          </a:xfrm>
          <a:prstGeom prst="rect">
            <a:avLst/>
          </a:prstGeom>
          <a:noFill/>
          <a:ln/>
        </p:spPr>
        <p:txBody>
          <a:bodyPr wrap="square" lIns="0" tIns="0" rIns="0" bIns="0" rtlCol="0" anchor="t"/>
          <a:lstStyle/>
          <a:p>
            <a:pPr indent="0" marL="0">
              <a:buNone/>
            </a:pPr>
            <a:r>
              <a:rPr lang="en-US" sz="1500" dirty="0">
                <a:solidFill>
                  <a:schemeClr val="tx2"/>
                </a:solidFill>
              </a:rPr>
              <a:t>Authoring guide + 3 reference lessons set tone and format</a:t>
            </a:r>
            <a:endParaRPr lang="en-US" sz="1500" dirty="0"/>
          </a:p>
        </p:txBody>
      </p:sp>
      <p:sp>
        <p:nvSpPr>
          <p:cNvPr id="21" name="Text 18"/>
          <p:cNvSpPr txBox="1"/>
          <p:nvPr/>
        </p:nvSpPr>
        <p:spPr>
          <a:xfrm>
            <a:off x="8769096" y="2926080"/>
            <a:ext cx="338328" cy="457200"/>
          </a:xfrm>
          <a:prstGeom prst="rect">
            <a:avLst/>
          </a:prstGeom>
          <a:noFill/>
          <a:ln/>
        </p:spPr>
        <p:txBody>
          <a:bodyPr wrap="square" lIns="0" tIns="0" rIns="0" bIns="0" rtlCol="0" anchor="t"/>
          <a:lstStyle/>
          <a:p>
            <a:pPr algn="ctr" indent="0" marL="0">
              <a:buNone/>
            </a:pPr>
            <a:r>
              <a:rPr lang="en-US" sz="2200" b="1" dirty="0">
                <a:solidFill>
                  <a:schemeClr val="accent1"/>
                </a:solidFill>
              </a:rPr>
              <a:t>→</a:t>
            </a:r>
            <a:endParaRPr lang="en-US" sz="2200" dirty="0"/>
          </a:p>
        </p:txBody>
      </p:sp>
      <p:sp>
        <p:nvSpPr>
          <p:cNvPr id="22" name="Shape 19"/>
          <p:cNvSpPr/>
          <p:nvPr/>
        </p:nvSpPr>
        <p:spPr>
          <a:xfrm>
            <a:off x="9107424" y="1554480"/>
            <a:ext cx="2514600" cy="3291840"/>
          </a:xfrm>
          <a:prstGeom prst="roundRect">
            <a:avLst>
              <a:gd name="adj" fmla="val 4364"/>
            </a:avLst>
          </a:prstGeom>
          <a:solidFill>
            <a:schemeClr val="tx1"/>
          </a:solidFill>
          <a:ln w="12700">
            <a:solidFill>
              <a:schemeClr val="tx1"/>
            </a:solidFill>
            <a:prstDash val="solid"/>
          </a:ln>
        </p:spPr>
      </p:sp>
      <p:sp>
        <p:nvSpPr>
          <p:cNvPr id="23" name="Shape 20"/>
          <p:cNvSpPr/>
          <p:nvPr/>
        </p:nvSpPr>
        <p:spPr>
          <a:xfrm>
            <a:off x="9381744" y="1828800"/>
            <a:ext cx="502920" cy="502920"/>
          </a:xfrm>
          <a:prstGeom prst="ellipse">
            <a:avLst/>
          </a:prstGeom>
          <a:solidFill>
            <a:schemeClr val="accent1"/>
          </a:solidFill>
          <a:ln w="12700">
            <a:solidFill>
              <a:schemeClr val="accent1"/>
            </a:solidFill>
            <a:prstDash val="solid"/>
          </a:ln>
        </p:spPr>
      </p:sp>
      <p:sp>
        <p:nvSpPr>
          <p:cNvPr id="24" name="Text 21"/>
          <p:cNvSpPr txBox="1"/>
          <p:nvPr/>
        </p:nvSpPr>
        <p:spPr>
          <a:xfrm>
            <a:off x="9381744" y="1828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5" name="Text 22"/>
          <p:cNvSpPr txBox="1"/>
          <p:nvPr/>
        </p:nvSpPr>
        <p:spPr>
          <a:xfrm>
            <a:off x="9381744" y="2560320"/>
            <a:ext cx="1965960" cy="457200"/>
          </a:xfrm>
          <a:prstGeom prst="rect">
            <a:avLst/>
          </a:prstGeom>
          <a:noFill/>
          <a:ln/>
        </p:spPr>
        <p:txBody>
          <a:bodyPr wrap="square" lIns="0" tIns="0" rIns="0" bIns="0" rtlCol="0" anchor="t"/>
          <a:lstStyle/>
          <a:p>
            <a:pPr indent="0" marL="0">
              <a:buNone/>
            </a:pPr>
            <a:r>
              <a:rPr lang="en-US" sz="2000" b="1" dirty="0">
                <a:solidFill>
                  <a:schemeClr val="accent1"/>
                </a:solidFill>
              </a:rPr>
              <a:t>Validate</a:t>
            </a:r>
            <a:endParaRPr lang="en-US" sz="2000" dirty="0"/>
          </a:p>
        </p:txBody>
      </p:sp>
      <p:sp>
        <p:nvSpPr>
          <p:cNvPr id="26" name="Text 23"/>
          <p:cNvSpPr txBox="1"/>
          <p:nvPr/>
        </p:nvSpPr>
        <p:spPr>
          <a:xfrm>
            <a:off x="9381744" y="3108960"/>
            <a:ext cx="1965960" cy="1645920"/>
          </a:xfrm>
          <a:prstGeom prst="rect">
            <a:avLst/>
          </a:prstGeom>
          <a:noFill/>
          <a:ln/>
        </p:spPr>
        <p:txBody>
          <a:bodyPr wrap="square" lIns="0" tIns="0" rIns="0" bIns="0" rtlCol="0" anchor="t"/>
          <a:lstStyle/>
          <a:p>
            <a:pPr indent="0" marL="0">
              <a:buNone/>
            </a:pPr>
            <a:r>
              <a:rPr lang="en-US" sz="1500" dirty="0">
                <a:solidFill>
                  <a:schemeClr val="bg1"/>
                </a:solidFill>
              </a:rPr>
              <a:t>Build fails if any sentence uses an untaught word</a:t>
            </a:r>
            <a:endParaRPr lang="en-US" sz="1500" dirty="0"/>
          </a:p>
        </p:txBody>
      </p:sp>
      <p:sp>
        <p:nvSpPr>
          <p:cNvPr id="27" name="Text 24"/>
          <p:cNvSpPr txBox="1"/>
          <p:nvPr/>
        </p:nvSpPr>
        <p:spPr>
          <a:xfrm>
            <a:off x="548640" y="5257800"/>
            <a:ext cx="10972800" cy="365760"/>
          </a:xfrm>
          <a:prstGeom prst="rect">
            <a:avLst/>
          </a:prstGeom>
          <a:noFill/>
          <a:ln/>
        </p:spPr>
        <p:txBody>
          <a:bodyPr wrap="square" lIns="0" tIns="0" rIns="0" bIns="0" rtlCol="0" anchor="t"/>
          <a:lstStyle/>
          <a:p>
            <a:pPr indent="0" marL="0">
              <a:buNone/>
            </a:pPr>
            <a:r>
              <a:rPr lang="en-US" sz="1500" dirty="0">
                <a:solidFill>
                  <a:schemeClr val="tx2"/>
                </a:solidFill>
              </a:rPr>
              <a:t>Tech: Vite + React + TypeScript · Vitest · static site · data CC BY-SA 4.0</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Results in numbers</a:t>
            </a:r>
            <a:endParaRPr lang="en-US" sz="3400" dirty="0"/>
          </a:p>
        </p:txBody>
      </p:sp>
      <p:sp>
        <p:nvSpPr>
          <p:cNvPr id="4" name="Shape 1"/>
          <p:cNvSpPr/>
          <p:nvPr/>
        </p:nvSpPr>
        <p:spPr>
          <a:xfrm>
            <a:off x="548640" y="1371600"/>
            <a:ext cx="3520440" cy="2148840"/>
          </a:xfrm>
          <a:prstGeom prst="roundRect">
            <a:avLst>
              <a:gd name="adj" fmla="val 5106"/>
            </a:avLst>
          </a:prstGeom>
          <a:solidFill>
            <a:schemeClr val="tx1"/>
          </a:solidFill>
          <a:ln w="12700">
            <a:solidFill>
              <a:schemeClr val="tx1"/>
            </a:solidFill>
            <a:prstDash val="solid"/>
          </a:ln>
        </p:spPr>
      </p:sp>
      <p:sp>
        <p:nvSpPr>
          <p:cNvPr id="5" name="Text 2"/>
          <p:cNvSpPr txBox="1"/>
          <p:nvPr/>
        </p:nvSpPr>
        <p:spPr>
          <a:xfrm>
            <a:off x="822960" y="1645920"/>
            <a:ext cx="2971800" cy="100584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120</a:t>
            </a:r>
            <a:endParaRPr lang="en-US" sz="5400" dirty="0"/>
          </a:p>
        </p:txBody>
      </p:sp>
      <p:sp>
        <p:nvSpPr>
          <p:cNvPr id="6" name="Text 3"/>
          <p:cNvSpPr txBox="1"/>
          <p:nvPr/>
        </p:nvSpPr>
        <p:spPr>
          <a:xfrm>
            <a:off x="822960" y="2743200"/>
            <a:ext cx="2971800" cy="457200"/>
          </a:xfrm>
          <a:prstGeom prst="rect">
            <a:avLst/>
          </a:prstGeom>
          <a:noFill/>
          <a:ln/>
        </p:spPr>
        <p:txBody>
          <a:bodyPr wrap="square" lIns="0" tIns="0" rIns="0" bIns="0" rtlCol="0" anchor="t"/>
          <a:lstStyle/>
          <a:p>
            <a:pPr indent="0" marL="0">
              <a:buNone/>
            </a:pPr>
            <a:r>
              <a:rPr lang="en-US" sz="1800" dirty="0">
                <a:solidFill>
                  <a:schemeClr val="bg1"/>
                </a:solidFill>
              </a:rPr>
              <a:t>lessons (A1–A2)</a:t>
            </a:r>
            <a:endParaRPr lang="en-US" sz="1800" dirty="0"/>
          </a:p>
        </p:txBody>
      </p:sp>
      <p:sp>
        <p:nvSpPr>
          <p:cNvPr id="7" name="Shape 4"/>
          <p:cNvSpPr/>
          <p:nvPr/>
        </p:nvSpPr>
        <p:spPr>
          <a:xfrm>
            <a:off x="4315968" y="1371600"/>
            <a:ext cx="3520440" cy="2148840"/>
          </a:xfrm>
          <a:prstGeom prst="roundRect">
            <a:avLst>
              <a:gd name="adj" fmla="val 5106"/>
            </a:avLst>
          </a:prstGeom>
          <a:solidFill>
            <a:schemeClr val="bg2"/>
          </a:solidFill>
          <a:ln w="12700">
            <a:solidFill>
              <a:schemeClr val="bg2"/>
            </a:solidFill>
            <a:prstDash val="solid"/>
          </a:ln>
        </p:spPr>
      </p:sp>
      <p:sp>
        <p:nvSpPr>
          <p:cNvPr id="8" name="Text 5"/>
          <p:cNvSpPr txBox="1"/>
          <p:nvPr/>
        </p:nvSpPr>
        <p:spPr>
          <a:xfrm>
            <a:off x="4590288" y="1645920"/>
            <a:ext cx="2971800" cy="100584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1,822</a:t>
            </a:r>
            <a:endParaRPr lang="en-US" sz="5400" dirty="0"/>
          </a:p>
        </p:txBody>
      </p:sp>
      <p:sp>
        <p:nvSpPr>
          <p:cNvPr id="9" name="Text 6"/>
          <p:cNvSpPr txBox="1"/>
          <p:nvPr/>
        </p:nvSpPr>
        <p:spPr>
          <a:xfrm>
            <a:off x="4590288" y="2743200"/>
            <a:ext cx="2971800" cy="457200"/>
          </a:xfrm>
          <a:prstGeom prst="rect">
            <a:avLst/>
          </a:prstGeom>
          <a:noFill/>
          <a:ln/>
        </p:spPr>
        <p:txBody>
          <a:bodyPr wrap="square" lIns="0" tIns="0" rIns="0" bIns="0" rtlCol="0" anchor="t"/>
          <a:lstStyle/>
          <a:p>
            <a:pPr indent="0" marL="0">
              <a:buNone/>
            </a:pPr>
            <a:r>
              <a:rPr lang="en-US" sz="1800" dirty="0">
                <a:solidFill>
                  <a:schemeClr val="tx1"/>
                </a:solidFill>
              </a:rPr>
              <a:t>words taught</a:t>
            </a:r>
            <a:endParaRPr lang="en-US" sz="1800" dirty="0"/>
          </a:p>
        </p:txBody>
      </p:sp>
      <p:sp>
        <p:nvSpPr>
          <p:cNvPr id="10" name="Shape 7"/>
          <p:cNvSpPr/>
          <p:nvPr/>
        </p:nvSpPr>
        <p:spPr>
          <a:xfrm>
            <a:off x="8083296" y="1371600"/>
            <a:ext cx="3520440" cy="2148840"/>
          </a:xfrm>
          <a:prstGeom prst="roundRect">
            <a:avLst>
              <a:gd name="adj" fmla="val 5106"/>
            </a:avLst>
          </a:prstGeom>
          <a:solidFill>
            <a:schemeClr val="bg2"/>
          </a:solidFill>
          <a:ln w="12700">
            <a:solidFill>
              <a:schemeClr val="bg2"/>
            </a:solidFill>
            <a:prstDash val="solid"/>
          </a:ln>
        </p:spPr>
      </p:sp>
      <p:sp>
        <p:nvSpPr>
          <p:cNvPr id="11" name="Text 8"/>
          <p:cNvSpPr txBox="1"/>
          <p:nvPr/>
        </p:nvSpPr>
        <p:spPr>
          <a:xfrm>
            <a:off x="8357616" y="1645920"/>
            <a:ext cx="2971800" cy="100584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660</a:t>
            </a:r>
            <a:endParaRPr lang="en-US" sz="5400" dirty="0"/>
          </a:p>
        </p:txBody>
      </p:sp>
      <p:sp>
        <p:nvSpPr>
          <p:cNvPr id="12" name="Text 9"/>
          <p:cNvSpPr txBox="1"/>
          <p:nvPr/>
        </p:nvSpPr>
        <p:spPr>
          <a:xfrm>
            <a:off x="8357616" y="2743200"/>
            <a:ext cx="2971800" cy="457200"/>
          </a:xfrm>
          <a:prstGeom prst="rect">
            <a:avLst/>
          </a:prstGeom>
          <a:noFill/>
          <a:ln/>
        </p:spPr>
        <p:txBody>
          <a:bodyPr wrap="square" lIns="0" tIns="0" rIns="0" bIns="0" rtlCol="0" anchor="t"/>
          <a:lstStyle/>
          <a:p>
            <a:pPr indent="0" marL="0">
              <a:buNone/>
            </a:pPr>
            <a:r>
              <a:rPr lang="en-US" sz="1800" dirty="0">
                <a:solidFill>
                  <a:schemeClr val="tx1"/>
                </a:solidFill>
              </a:rPr>
              <a:t>grammar exercises</a:t>
            </a:r>
            <a:endParaRPr lang="en-US" sz="1800" dirty="0"/>
          </a:p>
        </p:txBody>
      </p:sp>
      <p:sp>
        <p:nvSpPr>
          <p:cNvPr id="13" name="Shape 10"/>
          <p:cNvSpPr/>
          <p:nvPr/>
        </p:nvSpPr>
        <p:spPr>
          <a:xfrm>
            <a:off x="548640" y="3749040"/>
            <a:ext cx="3520440" cy="2148840"/>
          </a:xfrm>
          <a:prstGeom prst="roundRect">
            <a:avLst>
              <a:gd name="adj" fmla="val 5106"/>
            </a:avLst>
          </a:prstGeom>
          <a:solidFill>
            <a:schemeClr val="bg2"/>
          </a:solidFill>
          <a:ln w="12700">
            <a:solidFill>
              <a:schemeClr val="bg2"/>
            </a:solidFill>
            <a:prstDash val="solid"/>
          </a:ln>
        </p:spPr>
      </p:sp>
      <p:sp>
        <p:nvSpPr>
          <p:cNvPr id="14" name="Text 11"/>
          <p:cNvSpPr txBox="1"/>
          <p:nvPr/>
        </p:nvSpPr>
        <p:spPr>
          <a:xfrm>
            <a:off x="822960" y="4023360"/>
            <a:ext cx="2971800" cy="100584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1,436</a:t>
            </a:r>
            <a:endParaRPr lang="en-US" sz="5400" dirty="0"/>
          </a:p>
        </p:txBody>
      </p:sp>
      <p:sp>
        <p:nvSpPr>
          <p:cNvPr id="15" name="Text 12"/>
          <p:cNvSpPr txBox="1"/>
          <p:nvPr/>
        </p:nvSpPr>
        <p:spPr>
          <a:xfrm>
            <a:off x="822960" y="5120640"/>
            <a:ext cx="2971800" cy="457200"/>
          </a:xfrm>
          <a:prstGeom prst="rect">
            <a:avLst/>
          </a:prstGeom>
          <a:noFill/>
          <a:ln/>
        </p:spPr>
        <p:txBody>
          <a:bodyPr wrap="square" lIns="0" tIns="0" rIns="0" bIns="0" rtlCol="0" anchor="t"/>
          <a:lstStyle/>
          <a:p>
            <a:pPr indent="0" marL="0">
              <a:buNone/>
            </a:pPr>
            <a:r>
              <a:rPr lang="en-US" sz="1800" dirty="0">
                <a:solidFill>
                  <a:schemeClr val="tx1"/>
                </a:solidFill>
              </a:rPr>
              <a:t>dialogue lines</a:t>
            </a:r>
            <a:endParaRPr lang="en-US" sz="1800" dirty="0"/>
          </a:p>
        </p:txBody>
      </p:sp>
      <p:sp>
        <p:nvSpPr>
          <p:cNvPr id="16" name="Shape 13"/>
          <p:cNvSpPr/>
          <p:nvPr/>
        </p:nvSpPr>
        <p:spPr>
          <a:xfrm>
            <a:off x="4315968" y="3749040"/>
            <a:ext cx="3520440" cy="2148840"/>
          </a:xfrm>
          <a:prstGeom prst="roundRect">
            <a:avLst>
              <a:gd name="adj" fmla="val 5106"/>
            </a:avLst>
          </a:prstGeom>
          <a:solidFill>
            <a:schemeClr val="bg2"/>
          </a:solidFill>
          <a:ln w="12700">
            <a:solidFill>
              <a:schemeClr val="bg2"/>
            </a:solidFill>
            <a:prstDash val="solid"/>
          </a:ln>
        </p:spPr>
      </p:sp>
      <p:sp>
        <p:nvSpPr>
          <p:cNvPr id="17" name="Text 14"/>
          <p:cNvSpPr txBox="1"/>
          <p:nvPr/>
        </p:nvSpPr>
        <p:spPr>
          <a:xfrm>
            <a:off x="4590288" y="4023360"/>
            <a:ext cx="2971800" cy="100584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0</a:t>
            </a:r>
            <a:endParaRPr lang="en-US" sz="5400" dirty="0"/>
          </a:p>
        </p:txBody>
      </p:sp>
      <p:sp>
        <p:nvSpPr>
          <p:cNvPr id="18" name="Text 15"/>
          <p:cNvSpPr txBox="1"/>
          <p:nvPr/>
        </p:nvSpPr>
        <p:spPr>
          <a:xfrm>
            <a:off x="4590288" y="5120640"/>
            <a:ext cx="2971800" cy="457200"/>
          </a:xfrm>
          <a:prstGeom prst="rect">
            <a:avLst/>
          </a:prstGeom>
          <a:noFill/>
          <a:ln/>
        </p:spPr>
        <p:txBody>
          <a:bodyPr wrap="square" lIns="0" tIns="0" rIns="0" bIns="0" rtlCol="0" anchor="t"/>
          <a:lstStyle/>
          <a:p>
            <a:pPr indent="0" marL="0">
              <a:buNone/>
            </a:pPr>
            <a:r>
              <a:rPr lang="en-US" sz="1800" dirty="0">
                <a:solidFill>
                  <a:schemeClr val="tx1"/>
                </a:solidFill>
              </a:rPr>
              <a:t>validator errors</a:t>
            </a:r>
            <a:endParaRPr lang="en-US" sz="1800" dirty="0"/>
          </a:p>
        </p:txBody>
      </p:sp>
      <p:sp>
        <p:nvSpPr>
          <p:cNvPr id="19" name="Shape 16"/>
          <p:cNvSpPr/>
          <p:nvPr/>
        </p:nvSpPr>
        <p:spPr>
          <a:xfrm>
            <a:off x="8083296" y="3749040"/>
            <a:ext cx="3520440" cy="2148840"/>
          </a:xfrm>
          <a:prstGeom prst="roundRect">
            <a:avLst>
              <a:gd name="adj" fmla="val 5106"/>
            </a:avLst>
          </a:prstGeom>
          <a:solidFill>
            <a:schemeClr val="bg2"/>
          </a:solidFill>
          <a:ln w="12700">
            <a:solidFill>
              <a:schemeClr val="bg2"/>
            </a:solidFill>
            <a:prstDash val="solid"/>
          </a:ln>
        </p:spPr>
      </p:sp>
      <p:sp>
        <p:nvSpPr>
          <p:cNvPr id="20" name="Text 17"/>
          <p:cNvSpPr txBox="1"/>
          <p:nvPr/>
        </p:nvSpPr>
        <p:spPr>
          <a:xfrm>
            <a:off x="8357616" y="4023360"/>
            <a:ext cx="2971800" cy="100584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€0</a:t>
            </a:r>
            <a:endParaRPr lang="en-US" sz="5400" dirty="0"/>
          </a:p>
        </p:txBody>
      </p:sp>
      <p:sp>
        <p:nvSpPr>
          <p:cNvPr id="21" name="Text 18"/>
          <p:cNvSpPr txBox="1"/>
          <p:nvPr/>
        </p:nvSpPr>
        <p:spPr>
          <a:xfrm>
            <a:off x="8357616" y="5120640"/>
            <a:ext cx="2971800" cy="457200"/>
          </a:xfrm>
          <a:prstGeom prst="rect">
            <a:avLst/>
          </a:prstGeom>
          <a:noFill/>
          <a:ln/>
        </p:spPr>
        <p:txBody>
          <a:bodyPr wrap="square" lIns="0" tIns="0" rIns="0" bIns="0" rtlCol="0" anchor="t"/>
          <a:lstStyle/>
          <a:p>
            <a:pPr indent="0" marL="0">
              <a:buNone/>
            </a:pPr>
            <a:r>
              <a:rPr lang="en-US" sz="1800" dirty="0">
                <a:solidFill>
                  <a:schemeClr val="tx1"/>
                </a:solidFill>
              </a:rPr>
              <a:t>total cost</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Quality control: automated gates + human review</a:t>
            </a:r>
            <a:endParaRPr lang="en-US" sz="3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572000"/>
                <a:gridCol w="3749040"/>
                <a:gridCol w="2743200"/>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Check</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1B2233"/>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Tool</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1B2233"/>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Result</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1B2233"/>
                    </a:solidFill>
                  </a:tcPr>
                </a:tc>
              </a:tr>
              <a:tr h="566928">
                <a:tc>
                  <a:txBody>
                    <a:bodyPr/>
                    <a:lstStyle/>
                    <a:p>
                      <a:pPr indent="0" marL="0">
                        <a:buNone/>
                      </a:pPr>
                      <a:r>
                        <a:rPr lang="en-US" sz="1500" dirty="0">
                          <a:solidFill>
                            <a:srgbClr val="1B2233"/>
                          </a:solidFill>
                          <a:latin typeface="Calibri" pitchFamily="34" charset="0"/>
                          <a:ea typeface="Calibri" pitchFamily="34" charset="-122"/>
                          <a:cs typeface="Calibri" pitchFamily="34" charset="-120"/>
                        </a:rPr>
                        <a:t>Known-words-only rule</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3F4F7"/>
                    </a:solidFill>
                  </a:tcPr>
                </a:tc>
                <a:tc>
                  <a:txBody>
                    <a:bodyPr/>
                    <a:lstStyle/>
                    <a:p>
                      <a:pPr indent="0" marL="0">
                        <a:buNone/>
                      </a:pPr>
                      <a:r>
                        <a:rPr lang="en-US" sz="1500" dirty="0">
                          <a:solidFill>
                            <a:srgbClr val="1B2233"/>
                          </a:solidFill>
                          <a:latin typeface="Courier New" pitchFamily="34" charset="0"/>
                          <a:ea typeface="Courier New" pitchFamily="34" charset="-122"/>
                          <a:cs typeface="Courier New" pitchFamily="34" charset="-120"/>
                        </a:rPr>
                        <a:t>npm run check</a:t>
                      </a:r>
                      <a:endParaRPr lang="en-US" sz="1500" dirty="0">
                        <a:latin typeface="Courier New" charset="0"/>
                        <a:ea typeface="Courier New" charset="0"/>
                        <a:cs typeface="Courier New"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3F4F7"/>
                    </a:solidFill>
                  </a:tcPr>
                </a:tc>
                <a:tc>
                  <a:txBody>
                    <a:bodyPr/>
                    <a:lstStyle/>
                    <a:p>
                      <a:pPr indent="0" marL="0">
                        <a:buNone/>
                      </a:pPr>
                      <a:r>
                        <a:rPr lang="en-US" sz="1500" b="1" dirty="0">
                          <a:solidFill>
                            <a:srgbClr val="2E8B57"/>
                          </a:solidFill>
                          <a:latin typeface="Calibri" pitchFamily="34" charset="0"/>
                          <a:ea typeface="Calibri" pitchFamily="34" charset="-122"/>
                          <a:cs typeface="Calibri" pitchFamily="34" charset="-120"/>
                        </a:rPr>
                        <a:t>120 lessons OK</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3F4F7"/>
                    </a:solidFill>
                  </a:tcPr>
                </a:tc>
              </a:tr>
              <a:tr h="566928">
                <a:tc>
                  <a:txBody>
                    <a:bodyPr/>
                    <a:lstStyle/>
                    <a:p>
                      <a:pPr indent="0" marL="0">
                        <a:buNone/>
                      </a:pPr>
                      <a:r>
                        <a:rPr lang="en-US" sz="1500" dirty="0">
                          <a:solidFill>
                            <a:srgbClr val="1B2233"/>
                          </a:solidFill>
                          <a:latin typeface="Calibri" pitchFamily="34" charset="0"/>
                          <a:ea typeface="Calibri" pitchFamily="34" charset="-122"/>
                          <a:cs typeface="Calibri" pitchFamily="34" charset="-120"/>
                        </a:rPr>
                        <a:t>Unit tests (SRS, dates, answers)</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dirty="0">
                          <a:solidFill>
                            <a:srgbClr val="1B2233"/>
                          </a:solidFill>
                          <a:latin typeface="Courier New" pitchFamily="34" charset="0"/>
                          <a:ea typeface="Courier New" pitchFamily="34" charset="-122"/>
                          <a:cs typeface="Courier New" pitchFamily="34" charset="-120"/>
                        </a:rPr>
                        <a:t>npm test (Vitest)</a:t>
                      </a:r>
                      <a:endParaRPr lang="en-US" sz="1500" dirty="0">
                        <a:latin typeface="Courier New" charset="0"/>
                        <a:ea typeface="Courier New" charset="0"/>
                        <a:cs typeface="Courier New"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b="1" dirty="0">
                          <a:solidFill>
                            <a:srgbClr val="2E8B57"/>
                          </a:solidFill>
                          <a:latin typeface="Calibri" pitchFamily="34" charset="0"/>
                          <a:ea typeface="Calibri" pitchFamily="34" charset="-122"/>
                          <a:cs typeface="Calibri" pitchFamily="34" charset="-120"/>
                        </a:rPr>
                        <a:t>7 / 7 pass</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r>
              <a:tr h="566928">
                <a:tc>
                  <a:txBody>
                    <a:bodyPr/>
                    <a:lstStyle/>
                    <a:p>
                      <a:pPr indent="0" marL="0">
                        <a:buNone/>
                      </a:pPr>
                      <a:r>
                        <a:rPr lang="en-US" sz="1500" dirty="0">
                          <a:solidFill>
                            <a:srgbClr val="1B2233"/>
                          </a:solidFill>
                          <a:latin typeface="Calibri" pitchFamily="34" charset="0"/>
                          <a:ea typeface="Calibri" pitchFamily="34" charset="-122"/>
                          <a:cs typeface="Calibri" pitchFamily="34" charset="-120"/>
                        </a:rPr>
                        <a:t>Type safety</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3F4F7"/>
                    </a:solidFill>
                  </a:tcPr>
                </a:tc>
                <a:tc>
                  <a:txBody>
                    <a:bodyPr/>
                    <a:lstStyle/>
                    <a:p>
                      <a:pPr indent="0" marL="0">
                        <a:buNone/>
                      </a:pPr>
                      <a:r>
                        <a:rPr lang="en-US" sz="1500" dirty="0">
                          <a:solidFill>
                            <a:srgbClr val="1B2233"/>
                          </a:solidFill>
                          <a:latin typeface="Courier New" pitchFamily="34" charset="0"/>
                          <a:ea typeface="Courier New" pitchFamily="34" charset="-122"/>
                          <a:cs typeface="Courier New" pitchFamily="34" charset="-120"/>
                        </a:rPr>
                        <a:t>tsc --noEmit</a:t>
                      </a:r>
                      <a:endParaRPr lang="en-US" sz="1500" dirty="0">
                        <a:latin typeface="Courier New" charset="0"/>
                        <a:ea typeface="Courier New" charset="0"/>
                        <a:cs typeface="Courier New"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3F4F7"/>
                    </a:solidFill>
                  </a:tcPr>
                </a:tc>
                <a:tc>
                  <a:txBody>
                    <a:bodyPr/>
                    <a:lstStyle/>
                    <a:p>
                      <a:pPr indent="0" marL="0">
                        <a:buNone/>
                      </a:pPr>
                      <a:r>
                        <a:rPr lang="en-US" sz="1500" b="1" dirty="0">
                          <a:solidFill>
                            <a:srgbClr val="2E8B57"/>
                          </a:solidFill>
                          <a:latin typeface="Calibri" pitchFamily="34" charset="0"/>
                          <a:ea typeface="Calibri" pitchFamily="34" charset="-122"/>
                          <a:cs typeface="Calibri" pitchFamily="34" charset="-120"/>
                        </a:rPr>
                        <a:t>Pass</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3F4F7"/>
                    </a:solidFill>
                  </a:tcPr>
                </a:tc>
              </a:tr>
              <a:tr h="566928">
                <a:tc>
                  <a:txBody>
                    <a:bodyPr/>
                    <a:lstStyle/>
                    <a:p>
                      <a:pPr indent="0" marL="0">
                        <a:buNone/>
                      </a:pPr>
                      <a:r>
                        <a:rPr lang="en-US" sz="1500" dirty="0">
                          <a:solidFill>
                            <a:srgbClr val="1B2233"/>
                          </a:solidFill>
                          <a:latin typeface="Calibri" pitchFamily="34" charset="0"/>
                          <a:ea typeface="Calibri" pitchFamily="34" charset="-122"/>
                          <a:cs typeface="Calibri" pitchFamily="34" charset="-120"/>
                        </a:rPr>
                        <a:t>Build gate</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dirty="0">
                          <a:solidFill>
                            <a:srgbClr val="1B2233"/>
                          </a:solidFill>
                          <a:latin typeface="Courier New" pitchFamily="34" charset="0"/>
                          <a:ea typeface="Courier New" pitchFamily="34" charset="-122"/>
                          <a:cs typeface="Courier New" pitchFamily="34" charset="-120"/>
                        </a:rPr>
                        <a:t>npm run build</a:t>
                      </a:r>
                      <a:endParaRPr lang="en-US" sz="1500" dirty="0">
                        <a:latin typeface="Courier New" charset="0"/>
                        <a:ea typeface="Courier New" charset="0"/>
                        <a:cs typeface="Courier New"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b="1" dirty="0">
                          <a:solidFill>
                            <a:srgbClr val="2E8B57"/>
                          </a:solidFill>
                          <a:latin typeface="Calibri" pitchFamily="34" charset="0"/>
                          <a:ea typeface="Calibri" pitchFamily="34" charset="-122"/>
                          <a:cs typeface="Calibri" pitchFamily="34" charset="-120"/>
                        </a:rPr>
                        <a:t>Pass</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r>
              <a:tr h="566928">
                <a:tc>
                  <a:txBody>
                    <a:bodyPr/>
                    <a:lstStyle/>
                    <a:p>
                      <a:pPr indent="0" marL="0">
                        <a:buNone/>
                      </a:pPr>
                      <a:r>
                        <a:rPr lang="en-US" sz="1500" dirty="0">
                          <a:solidFill>
                            <a:srgbClr val="1B2233"/>
                          </a:solidFill>
                          <a:latin typeface="Calibri" pitchFamily="34" charset="0"/>
                          <a:ea typeface="Calibri" pitchFamily="34" charset="-122"/>
                          <a:cs typeface="Calibri" pitchFamily="34" charset="-120"/>
                        </a:rPr>
                        <a:t>Language + story review</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3F4F7"/>
                    </a:solidFill>
                  </a:tcPr>
                </a:tc>
                <a:tc>
                  <a:txBody>
                    <a:bodyPr/>
                    <a:lstStyle/>
                    <a:p>
                      <a:pPr indent="0" marL="0">
                        <a:buNone/>
                      </a:pPr>
                      <a:r>
                        <a:rPr lang="en-US" sz="1500" dirty="0">
                          <a:solidFill>
                            <a:srgbClr val="1B2233"/>
                          </a:solidFill>
                          <a:latin typeface="Courier New" pitchFamily="34" charset="0"/>
                          <a:ea typeface="Courier New" pitchFamily="34" charset="-122"/>
                          <a:cs typeface="Courier New" pitchFamily="34" charset="-120"/>
                        </a:rPr>
                        <a:t>Human read-through</a:t>
                      </a:r>
                      <a:endParaRPr lang="en-US" sz="1500" dirty="0">
                        <a:latin typeface="Courier New" charset="0"/>
                        <a:ea typeface="Courier New" charset="0"/>
                        <a:cs typeface="Courier New"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3F4F7"/>
                    </a:solidFill>
                  </a:tcPr>
                </a:tc>
                <a:tc>
                  <a:txBody>
                    <a:bodyPr/>
                    <a:lstStyle/>
                    <a:p>
                      <a:pPr indent="0" marL="0">
                        <a:buNone/>
                      </a:pPr>
                      <a:r>
                        <a:rPr lang="en-US" sz="1500" b="1" dirty="0">
                          <a:solidFill>
                            <a:srgbClr val="C0392B"/>
                          </a:solidFill>
                          <a:latin typeface="Calibri" pitchFamily="34" charset="0"/>
                          <a:ea typeface="Calibri" pitchFamily="34" charset="-122"/>
                          <a:cs typeface="Calibri" pitchFamily="34" charset="-120"/>
                        </a:rPr>
                        <a:t>Pending</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3F4F7"/>
                    </a:solidFill>
                  </a:tcPr>
                </a:tc>
              </a:tr>
              <a:tr h="566928">
                <a:tc>
                  <a:txBody>
                    <a:bodyPr/>
                    <a:lstStyle/>
                    <a:p>
                      <a:pPr indent="0" marL="0">
                        <a:buNone/>
                      </a:pPr>
                      <a:r>
                        <a:rPr lang="en-US" sz="1500" dirty="0">
                          <a:solidFill>
                            <a:srgbClr val="1B2233"/>
                          </a:solidFill>
                          <a:latin typeface="Calibri" pitchFamily="34" charset="0"/>
                          <a:ea typeface="Calibri" pitchFamily="34" charset="-122"/>
                          <a:cs typeface="Calibri" pitchFamily="34" charset="-120"/>
                        </a:rPr>
                        <a:t>Real-life use</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dirty="0">
                          <a:solidFill>
                            <a:srgbClr val="1B2233"/>
                          </a:solidFill>
                          <a:latin typeface="Courier New" pitchFamily="34" charset="0"/>
                          <a:ea typeface="Courier New" pitchFamily="34" charset="-122"/>
                          <a:cs typeface="Courier New" pitchFamily="34" charset="-120"/>
                        </a:rPr>
                        <a:t>Daily use test</a:t>
                      </a:r>
                      <a:endParaRPr lang="en-US" sz="1500" dirty="0">
                        <a:latin typeface="Courier New" charset="0"/>
                        <a:ea typeface="Courier New" charset="0"/>
                        <a:cs typeface="Courier New"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b="1" dirty="0">
                          <a:solidFill>
                            <a:srgbClr val="C0392B"/>
                          </a:solidFill>
                          <a:latin typeface="Calibri" pitchFamily="34" charset="0"/>
                          <a:ea typeface="Calibri" pitchFamily="34" charset="-122"/>
                          <a:cs typeface="Calibri" pitchFamily="34" charset="-120"/>
                        </a:rPr>
                        <a:t>Pending</a:t>
                      </a:r>
                      <a:endParaRPr lang="en-US" sz="1500" dirty="0">
                        <a:latin typeface="Calibri" charset="0"/>
                        <a:ea typeface="Calibri" charset="0"/>
                        <a:cs typeface="Calibri"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Definition of Done: 7 of 13 criteria met</a:t>
            </a:r>
            <a:endParaRPr lang="en-US" sz="3400" dirty="0"/>
          </a:p>
        </p:txBody>
      </p:sp>
      <p:sp>
        <p:nvSpPr>
          <p:cNvPr id="4" name="Shape 1"/>
          <p:cNvSpPr/>
          <p:nvPr/>
        </p:nvSpPr>
        <p:spPr>
          <a:xfrm>
            <a:off x="548640" y="1325880"/>
            <a:ext cx="11064240" cy="365760"/>
          </a:xfrm>
          <a:prstGeom prst="roundRect">
            <a:avLst>
              <a:gd name="adj" fmla="val 50000"/>
            </a:avLst>
          </a:prstGeom>
          <a:solidFill>
            <a:schemeClr val="bg2"/>
          </a:solidFill>
          <a:ln w="12700">
            <a:solidFill>
              <a:schemeClr val="bg2"/>
            </a:solidFill>
            <a:prstDash val="solid"/>
          </a:ln>
        </p:spPr>
      </p:sp>
      <p:sp>
        <p:nvSpPr>
          <p:cNvPr id="5" name="Shape 2"/>
          <p:cNvSpPr/>
          <p:nvPr/>
        </p:nvSpPr>
        <p:spPr>
          <a:xfrm>
            <a:off x="548640" y="1325880"/>
            <a:ext cx="5957668" cy="365760"/>
          </a:xfrm>
          <a:prstGeom prst="roundRect">
            <a:avLst>
              <a:gd name="adj" fmla="val 50000"/>
            </a:avLst>
          </a:prstGeom>
          <a:solidFill>
            <a:schemeClr val="accent3"/>
          </a:solidFill>
          <a:ln w="12700">
            <a:solidFill>
              <a:schemeClr val="accent3"/>
            </a:solidFill>
            <a:prstDash val="solid"/>
          </a:ln>
        </p:spPr>
      </p:sp>
      <p:sp>
        <p:nvSpPr>
          <p:cNvPr id="6" name="Text 3"/>
          <p:cNvSpPr txBox="1"/>
          <p:nvPr/>
        </p:nvSpPr>
        <p:spPr>
          <a:xfrm>
            <a:off x="548640" y="1325880"/>
            <a:ext cx="5774788" cy="365760"/>
          </a:xfrm>
          <a:prstGeom prst="rect">
            <a:avLst/>
          </a:prstGeom>
          <a:noFill/>
          <a:ln/>
        </p:spPr>
        <p:txBody>
          <a:bodyPr wrap="square" lIns="0" tIns="0" rIns="0" bIns="0" rtlCol="0" anchor="ctr"/>
          <a:lstStyle/>
          <a:p>
            <a:pPr algn="r" indent="0" marL="0">
              <a:buNone/>
            </a:pPr>
            <a:r>
              <a:rPr lang="en-US" sz="1400" b="1" dirty="0">
                <a:solidFill>
                  <a:schemeClr val="bg1"/>
                </a:solidFill>
              </a:rPr>
              <a:t>54%</a:t>
            </a:r>
            <a:endParaRPr lang="en-US" sz="1400" dirty="0"/>
          </a:p>
        </p:txBody>
      </p:sp>
      <p:sp>
        <p:nvSpPr>
          <p:cNvPr id="7" name="Text 4"/>
          <p:cNvSpPr txBox="1"/>
          <p:nvPr/>
        </p:nvSpPr>
        <p:spPr>
          <a:xfrm>
            <a:off x="548640" y="1965960"/>
            <a:ext cx="4572000" cy="411480"/>
          </a:xfrm>
          <a:prstGeom prst="rect">
            <a:avLst/>
          </a:prstGeom>
          <a:noFill/>
          <a:ln/>
        </p:spPr>
        <p:txBody>
          <a:bodyPr wrap="square" lIns="0" tIns="0" rIns="0" bIns="0" rtlCol="0" anchor="t"/>
          <a:lstStyle/>
          <a:p>
            <a:pPr indent="0" marL="0">
              <a:buNone/>
            </a:pPr>
            <a:r>
              <a:rPr lang="en-US" sz="2000" b="1" dirty="0">
                <a:solidFill>
                  <a:schemeClr val="accent3"/>
                </a:solidFill>
              </a:rPr>
              <a:t>Done</a:t>
            </a:r>
            <a:endParaRPr lang="en-US" sz="2000" dirty="0"/>
          </a:p>
        </p:txBody>
      </p:sp>
      <p:sp>
        <p:nvSpPr>
          <p:cNvPr id="8" name="Text 5"/>
          <p:cNvSpPr txBox="1"/>
          <p:nvPr/>
        </p:nvSpPr>
        <p:spPr>
          <a:xfrm>
            <a:off x="548640" y="2468880"/>
            <a:ext cx="5394960" cy="365760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  120 lessons with words, grammar, dialogue</a:t>
            </a:r>
            <a:endParaRPr lang="en-US" sz="1600" dirty="0"/>
          </a:p>
          <a:p>
            <a:pPr indent="0" marL="0">
              <a:spcAft>
                <a:spcPts val="600"/>
              </a:spcAft>
              <a:buNone/>
            </a:pPr>
            <a:r>
              <a:rPr lang="en-US" sz="1600" dirty="0">
                <a:solidFill>
                  <a:schemeClr val="tx1"/>
                </a:solidFill>
              </a:rPr>
              <a:t>✓  Validator: 0 errors</a:t>
            </a:r>
            <a:endParaRPr lang="en-US" sz="1600" dirty="0"/>
          </a:p>
          <a:p>
            <a:pPr indent="0" marL="0">
              <a:spcAft>
                <a:spcPts val="600"/>
              </a:spcAft>
              <a:buNone/>
            </a:pPr>
            <a:r>
              <a:rPr lang="en-US" sz="1600" dirty="0">
                <a:solidFill>
                  <a:schemeClr val="tx1"/>
                </a:solidFill>
              </a:rPr>
              <a:t>✓  Unit tests pass</a:t>
            </a:r>
            <a:endParaRPr lang="en-US" sz="1600" dirty="0"/>
          </a:p>
          <a:p>
            <a:pPr indent="0" marL="0">
              <a:spcAft>
                <a:spcPts val="600"/>
              </a:spcAft>
              <a:buNone/>
            </a:pPr>
            <a:r>
              <a:rPr lang="en-US" sz="1600" dirty="0">
                <a:solidFill>
                  <a:schemeClr val="tx1"/>
                </a:solidFill>
              </a:rPr>
              <a:t>✓  Type-check + build pass</a:t>
            </a:r>
            <a:endParaRPr lang="en-US" sz="1600" dirty="0"/>
          </a:p>
          <a:p>
            <a:pPr indent="0" marL="0">
              <a:spcAft>
                <a:spcPts val="600"/>
              </a:spcAft>
              <a:buNone/>
            </a:pPr>
            <a:r>
              <a:rPr lang="en-US" sz="1600" dirty="0">
                <a:solidFill>
                  <a:schemeClr val="tx1"/>
                </a:solidFill>
              </a:rPr>
              <a:t>✓  All pages work</a:t>
            </a:r>
            <a:endParaRPr lang="en-US" sz="1600" dirty="0"/>
          </a:p>
          <a:p>
            <a:pPr indent="0" marL="0">
              <a:spcAft>
                <a:spcPts val="600"/>
              </a:spcAft>
              <a:buNone/>
            </a:pPr>
            <a:r>
              <a:rPr lang="en-US" sz="1600" dirty="0">
                <a:solidFill>
                  <a:schemeClr val="tx1"/>
                </a:solidFill>
              </a:rPr>
              <a:t>✓  PWA installable + offline</a:t>
            </a:r>
            <a:endParaRPr lang="en-US" sz="1600" dirty="0"/>
          </a:p>
          <a:p>
            <a:pPr indent="0" marL="0">
              <a:spcAft>
                <a:spcPts val="600"/>
              </a:spcAft>
              <a:buNone/>
            </a:pPr>
            <a:r>
              <a:rPr lang="en-US" sz="1600" dirty="0">
                <a:solidFill>
                  <a:schemeClr val="tx1"/>
                </a:solidFill>
              </a:rPr>
              <a:t>✓  Code in Git + GitHub</a:t>
            </a:r>
            <a:endParaRPr lang="en-US" sz="1600" dirty="0"/>
          </a:p>
        </p:txBody>
      </p:sp>
      <p:sp>
        <p:nvSpPr>
          <p:cNvPr id="9" name="Text 6"/>
          <p:cNvSpPr txBox="1"/>
          <p:nvPr/>
        </p:nvSpPr>
        <p:spPr>
          <a:xfrm>
            <a:off x="6263640" y="1965960"/>
            <a:ext cx="4572000" cy="411480"/>
          </a:xfrm>
          <a:prstGeom prst="rect">
            <a:avLst/>
          </a:prstGeom>
          <a:noFill/>
          <a:ln/>
        </p:spPr>
        <p:txBody>
          <a:bodyPr wrap="square" lIns="0" tIns="0" rIns="0" bIns="0" rtlCol="0" anchor="t"/>
          <a:lstStyle/>
          <a:p>
            <a:pPr indent="0" marL="0">
              <a:buNone/>
            </a:pPr>
            <a:r>
              <a:rPr lang="en-US" sz="2000" b="1" dirty="0">
                <a:solidFill>
                  <a:schemeClr val="accent4"/>
                </a:solidFill>
              </a:rPr>
              <a:t>Remaining</a:t>
            </a:r>
            <a:endParaRPr lang="en-US" sz="2000" dirty="0"/>
          </a:p>
        </p:txBody>
      </p:sp>
      <p:sp>
        <p:nvSpPr>
          <p:cNvPr id="10" name="Text 7"/>
          <p:cNvSpPr txBox="1"/>
          <p:nvPr/>
        </p:nvSpPr>
        <p:spPr>
          <a:xfrm>
            <a:off x="6263640" y="2468880"/>
            <a:ext cx="5394960" cy="3657600"/>
          </a:xfrm>
          <a:prstGeom prst="rect">
            <a:avLst/>
          </a:prstGeom>
          <a:noFill/>
          <a:ln/>
        </p:spPr>
        <p:txBody>
          <a:bodyPr wrap="square" lIns="0" tIns="0" rIns="0" bIns="0" rtlCol="0" anchor="t"/>
          <a:lstStyle/>
          <a:p>
            <a:pPr indent="0" marL="0">
              <a:spcAft>
                <a:spcPts val="600"/>
              </a:spcAft>
              <a:buNone/>
            </a:pPr>
            <a:r>
              <a:rPr lang="en-US" sz="1600" dirty="0">
                <a:solidFill>
                  <a:schemeClr val="tx2"/>
                </a:solidFill>
              </a:rPr>
              <a:t>☐  Read-through lessons 4–120</a:t>
            </a:r>
            <a:endParaRPr lang="en-US" sz="1600" dirty="0"/>
          </a:p>
          <a:p>
            <a:pPr indent="0" marL="0">
              <a:spcAft>
                <a:spcPts val="600"/>
              </a:spcAft>
              <a:buNone/>
            </a:pPr>
            <a:r>
              <a:rPr lang="en-US" sz="1600" dirty="0">
                <a:solidFill>
                  <a:schemeClr val="tx2"/>
                </a:solidFill>
              </a:rPr>
              <a:t>☐  Daily use test + fixes</a:t>
            </a:r>
            <a:endParaRPr lang="en-US" sz="1600" dirty="0"/>
          </a:p>
          <a:p>
            <a:pPr indent="0" marL="0">
              <a:spcAft>
                <a:spcPts val="600"/>
              </a:spcAft>
              <a:buNone/>
            </a:pPr>
            <a:r>
              <a:rPr lang="en-US" sz="1600" dirty="0">
                <a:solidFill>
                  <a:schemeClr val="tx2"/>
                </a:solidFill>
              </a:rPr>
              <a:t>☐  Deployed on Vercel</a:t>
            </a:r>
            <a:endParaRPr lang="en-US" sz="1600" dirty="0"/>
          </a:p>
          <a:p>
            <a:pPr indent="0" marL="0">
              <a:spcAft>
                <a:spcPts val="600"/>
              </a:spcAft>
              <a:buNone/>
            </a:pPr>
            <a:r>
              <a:rPr lang="en-US" sz="1600" dirty="0">
                <a:solidFill>
                  <a:schemeClr val="tx2"/>
                </a:solidFill>
              </a:rPr>
              <a:t>☐  Live smoke test (desktop + phone)</a:t>
            </a:r>
            <a:endParaRPr lang="en-US" sz="1600" dirty="0"/>
          </a:p>
          <a:p>
            <a:pPr indent="0" marL="0">
              <a:spcAft>
                <a:spcPts val="600"/>
              </a:spcAft>
              <a:buNone/>
            </a:pPr>
            <a:r>
              <a:rPr lang="en-US" sz="1600" dirty="0">
                <a:solidFill>
                  <a:schemeClr val="tx2"/>
                </a:solidFill>
              </a:rPr>
              <a:t>☐  PLAN.md updated</a:t>
            </a:r>
            <a:endParaRPr lang="en-US" sz="1600" dirty="0"/>
          </a:p>
          <a:p>
            <a:pPr indent="0" marL="0">
              <a:spcAft>
                <a:spcPts val="600"/>
              </a:spcAft>
              <a:buNone/>
            </a:pPr>
            <a:r>
              <a:rPr lang="en-US" sz="1600" dirty="0">
                <a:solidFill>
                  <a:schemeClr val="tx2"/>
                </a:solidFill>
              </a:rPr>
              <a:t>☐  Documents + sponsor sign-off</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Lessons learned</a:t>
            </a:r>
            <a:endParaRPr lang="en-US" sz="3400" dirty="0"/>
          </a:p>
        </p:txBody>
      </p:sp>
      <p:sp>
        <p:nvSpPr>
          <p:cNvPr id="4" name="Shape 1"/>
          <p:cNvSpPr/>
          <p:nvPr/>
        </p:nvSpPr>
        <p:spPr>
          <a:xfrm>
            <a:off x="548640" y="1371600"/>
            <a:ext cx="5394960" cy="4663440"/>
          </a:xfrm>
          <a:prstGeom prst="roundRect">
            <a:avLst>
              <a:gd name="adj" fmla="val 2353"/>
            </a:avLst>
          </a:prstGeom>
          <a:solidFill>
            <a:schemeClr val="bg2"/>
          </a:solidFill>
          <a:ln w="12700">
            <a:solidFill>
              <a:schemeClr val="bg2"/>
            </a:solidFill>
            <a:prstDash val="solid"/>
          </a:ln>
        </p:spPr>
      </p:sp>
      <p:sp>
        <p:nvSpPr>
          <p:cNvPr id="5" name="Text 2"/>
          <p:cNvSpPr txBox="1"/>
          <p:nvPr/>
        </p:nvSpPr>
        <p:spPr>
          <a:xfrm>
            <a:off x="868680" y="1600200"/>
            <a:ext cx="4572000" cy="457200"/>
          </a:xfrm>
          <a:prstGeom prst="rect">
            <a:avLst/>
          </a:prstGeom>
          <a:noFill/>
          <a:ln/>
        </p:spPr>
        <p:txBody>
          <a:bodyPr wrap="square" lIns="0" tIns="0" rIns="0" bIns="0" rtlCol="0" anchor="t"/>
          <a:lstStyle/>
          <a:p>
            <a:pPr indent="0" marL="0">
              <a:buNone/>
            </a:pPr>
            <a:r>
              <a:rPr lang="en-US" sz="2200" b="1" dirty="0">
                <a:solidFill>
                  <a:schemeClr val="accent3"/>
                </a:solidFill>
              </a:rPr>
              <a:t>Keep doing</a:t>
            </a:r>
            <a:endParaRPr lang="en-US" sz="2200" dirty="0"/>
          </a:p>
        </p:txBody>
      </p:sp>
      <p:sp>
        <p:nvSpPr>
          <p:cNvPr id="6" name="Text 3"/>
          <p:cNvSpPr txBox="1"/>
          <p:nvPr/>
        </p:nvSpPr>
        <p:spPr>
          <a:xfrm>
            <a:off x="868680" y="2194560"/>
            <a:ext cx="4846320" cy="36576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Build a thin MVP first, then scale</a:t>
            </a:r>
            <a:endParaRPr lang="en-US" sz="1600" dirty="0"/>
          </a:p>
          <a:p>
            <a:pPr marL="342900" indent="-342900">
              <a:spcAft>
                <a:spcPts val="1000"/>
              </a:spcAft>
              <a:buSzPct val="100000"/>
              <a:buChar char="•"/>
            </a:pPr>
            <a:r>
              <a:rPr lang="en-US" sz="1600" dirty="0">
                <a:solidFill>
                  <a:schemeClr val="tx1"/>
                </a:solidFill>
              </a:rPr>
              <a:t>Automate the rule that matters most</a:t>
            </a:r>
            <a:endParaRPr lang="en-US" sz="1600" dirty="0"/>
          </a:p>
          <a:p>
            <a:pPr marL="342900" indent="-342900">
              <a:spcAft>
                <a:spcPts val="1000"/>
              </a:spcAft>
              <a:buSzPct val="100000"/>
              <a:buChar char="•"/>
            </a:pPr>
            <a:r>
              <a:rPr lang="en-US" sz="1600" dirty="0">
                <a:solidFill>
                  <a:schemeClr val="tx1"/>
                </a:solidFill>
              </a:rPr>
              <a:t>Reuse open data before writing by hand</a:t>
            </a:r>
            <a:endParaRPr lang="en-US" sz="1600" dirty="0"/>
          </a:p>
          <a:p>
            <a:pPr marL="342900" indent="-342900">
              <a:spcAft>
                <a:spcPts val="1000"/>
              </a:spcAft>
              <a:buSzPct val="100000"/>
              <a:buChar char="•"/>
            </a:pPr>
            <a:r>
              <a:rPr lang="en-US" sz="1600" dirty="0">
                <a:solidFill>
                  <a:schemeClr val="tx1"/>
                </a:solidFill>
              </a:rPr>
              <a:t>Document the process (authoring guide)</a:t>
            </a:r>
            <a:endParaRPr lang="en-US" sz="1600" dirty="0"/>
          </a:p>
          <a:p>
            <a:pPr marL="342900" indent="-342900">
              <a:spcAft>
                <a:spcPts val="1000"/>
              </a:spcAft>
              <a:buSzPct val="100000"/>
              <a:buChar char="•"/>
            </a:pPr>
            <a:r>
              <a:rPr lang="en-US" sz="1600" dirty="0">
                <a:solidFill>
                  <a:schemeClr val="tx1"/>
                </a:solidFill>
              </a:rPr>
              <a:t>Write down what is out of scope</a:t>
            </a:r>
            <a:endParaRPr lang="en-US" sz="1600" dirty="0"/>
          </a:p>
        </p:txBody>
      </p:sp>
      <p:sp>
        <p:nvSpPr>
          <p:cNvPr id="7" name="Shape 4"/>
          <p:cNvSpPr/>
          <p:nvPr/>
        </p:nvSpPr>
        <p:spPr>
          <a:xfrm>
            <a:off x="6263640" y="1371600"/>
            <a:ext cx="5394960" cy="4663440"/>
          </a:xfrm>
          <a:prstGeom prst="roundRect">
            <a:avLst>
              <a:gd name="adj" fmla="val 2353"/>
            </a:avLst>
          </a:prstGeom>
          <a:solidFill>
            <a:schemeClr val="bg2"/>
          </a:solidFill>
          <a:ln w="12700">
            <a:solidFill>
              <a:schemeClr val="bg2"/>
            </a:solidFill>
            <a:prstDash val="solid"/>
          </a:ln>
        </p:spPr>
      </p:sp>
      <p:sp>
        <p:nvSpPr>
          <p:cNvPr id="8" name="Text 5"/>
          <p:cNvSpPr txBox="1"/>
          <p:nvPr/>
        </p:nvSpPr>
        <p:spPr>
          <a:xfrm>
            <a:off x="6583680" y="1600200"/>
            <a:ext cx="4572000" cy="457200"/>
          </a:xfrm>
          <a:prstGeom prst="rect">
            <a:avLst/>
          </a:prstGeom>
          <a:noFill/>
          <a:ln/>
        </p:spPr>
        <p:txBody>
          <a:bodyPr wrap="square" lIns="0" tIns="0" rIns="0" bIns="0" rtlCol="0" anchor="t"/>
          <a:lstStyle/>
          <a:p>
            <a:pPr indent="0" marL="0">
              <a:buNone/>
            </a:pPr>
            <a:r>
              <a:rPr lang="en-US" sz="2200" b="1" dirty="0">
                <a:solidFill>
                  <a:schemeClr val="accent4"/>
                </a:solidFill>
              </a:rPr>
              <a:t>Do better next time</a:t>
            </a:r>
            <a:endParaRPr lang="en-US" sz="2200" dirty="0"/>
          </a:p>
        </p:txBody>
      </p:sp>
      <p:sp>
        <p:nvSpPr>
          <p:cNvPr id="9" name="Text 6"/>
          <p:cNvSpPr txBox="1"/>
          <p:nvPr/>
        </p:nvSpPr>
        <p:spPr>
          <a:xfrm>
            <a:off x="6583680" y="2194560"/>
            <a:ext cx="4846320" cy="36576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Deploy early and continuously</a:t>
            </a:r>
            <a:endParaRPr lang="en-US" sz="1600" dirty="0"/>
          </a:p>
          <a:p>
            <a:pPr marL="342900" indent="-342900">
              <a:spcAft>
                <a:spcPts val="1000"/>
              </a:spcAft>
              <a:buSzPct val="100000"/>
              <a:buChar char="•"/>
            </a:pPr>
            <a:r>
              <a:rPr lang="en-US" sz="1600" dirty="0">
                <a:solidFill>
                  <a:schemeClr val="tx1"/>
                </a:solidFill>
              </a:rPr>
              <a:t>Plan review time per batch of content</a:t>
            </a:r>
            <a:endParaRPr lang="en-US" sz="1600" dirty="0"/>
          </a:p>
          <a:p>
            <a:pPr marL="342900" indent="-342900">
              <a:spcAft>
                <a:spcPts val="1000"/>
              </a:spcAft>
              <a:buSzPct val="100000"/>
              <a:buChar char="•"/>
            </a:pPr>
            <a:r>
              <a:rPr lang="en-US" sz="1600" dirty="0">
                <a:solidFill>
                  <a:schemeClr val="tx1"/>
                </a:solidFill>
              </a:rPr>
              <a:t>Baseline planned dates at kickoff</a:t>
            </a:r>
            <a:endParaRPr lang="en-US" sz="1600" dirty="0"/>
          </a:p>
          <a:p>
            <a:pPr marL="342900" indent="-342900">
              <a:spcAft>
                <a:spcPts val="1000"/>
              </a:spcAft>
              <a:buSzPct val="100000"/>
              <a:buChar char="•"/>
            </a:pPr>
            <a:r>
              <a:rPr lang="en-US" sz="1600" dirty="0">
                <a:solidFill>
                  <a:schemeClr val="tx1"/>
                </a:solidFill>
              </a:rPr>
              <a:t>Get test users in week 1</a:t>
            </a:r>
            <a:endParaRPr lang="en-US" sz="1600" dirty="0"/>
          </a:p>
          <a:p>
            <a:pPr marL="342900" indent="-342900">
              <a:spcAft>
                <a:spcPts val="1000"/>
              </a:spcAft>
              <a:buSzPct val="100000"/>
              <a:buChar char="•"/>
            </a:pPr>
            <a:r>
              <a:rPr lang="en-US" sz="1600" dirty="0">
                <a:solidFill>
                  <a:schemeClr val="tx1"/>
                </a:solidFill>
              </a:rPr>
              <a:t>Write charter + risks before coding</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Next steps to close the project</a:t>
            </a:r>
            <a:endParaRPr lang="en-US" sz="3400" dirty="0"/>
          </a:p>
        </p:txBody>
      </p:sp>
      <p:sp>
        <p:nvSpPr>
          <p:cNvPr id="4" name="Shape 1"/>
          <p:cNvSpPr/>
          <p:nvPr/>
        </p:nvSpPr>
        <p:spPr>
          <a:xfrm>
            <a:off x="548640" y="1371600"/>
            <a:ext cx="11064240" cy="1005840"/>
          </a:xfrm>
          <a:prstGeom prst="roundRect">
            <a:avLst>
              <a:gd name="adj" fmla="val 10909"/>
            </a:avLst>
          </a:prstGeom>
          <a:solidFill>
            <a:schemeClr val="bg2"/>
          </a:solidFill>
          <a:ln w="12700">
            <a:solidFill>
              <a:schemeClr val="bg2"/>
            </a:solidFill>
            <a:prstDash val="solid"/>
          </a:ln>
        </p:spPr>
      </p:sp>
      <p:sp>
        <p:nvSpPr>
          <p:cNvPr id="5" name="Shape 2"/>
          <p:cNvSpPr/>
          <p:nvPr/>
        </p:nvSpPr>
        <p:spPr>
          <a:xfrm>
            <a:off x="777240" y="1618488"/>
            <a:ext cx="502920" cy="502920"/>
          </a:xfrm>
          <a:prstGeom prst="ellipse">
            <a:avLst/>
          </a:prstGeom>
          <a:solidFill>
            <a:schemeClr val="accent1"/>
          </a:solidFill>
          <a:ln w="12700">
            <a:solidFill>
              <a:schemeClr val="accent1"/>
            </a:solidFill>
            <a:prstDash val="solid"/>
          </a:ln>
        </p:spPr>
      </p:sp>
      <p:sp>
        <p:nvSpPr>
          <p:cNvPr id="6" name="Text 3"/>
          <p:cNvSpPr txBox="1"/>
          <p:nvPr/>
        </p:nvSpPr>
        <p:spPr>
          <a:xfrm>
            <a:off x="777240" y="161848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554480" y="1645920"/>
            <a:ext cx="1828800" cy="457200"/>
          </a:xfrm>
          <a:prstGeom prst="rect">
            <a:avLst/>
          </a:prstGeom>
          <a:noFill/>
          <a:ln/>
        </p:spPr>
        <p:txBody>
          <a:bodyPr wrap="square" lIns="0" tIns="0" rIns="0" bIns="0" rtlCol="0" anchor="t"/>
          <a:lstStyle/>
          <a:p>
            <a:pPr indent="0" marL="0">
              <a:buNone/>
            </a:pPr>
            <a:r>
              <a:rPr lang="en-US" sz="2000" b="1" dirty="0">
                <a:solidFill>
                  <a:schemeClr val="tx1"/>
                </a:solidFill>
              </a:rPr>
              <a:t>Review</a:t>
            </a:r>
            <a:endParaRPr lang="en-US" sz="2000" dirty="0"/>
          </a:p>
        </p:txBody>
      </p:sp>
      <p:sp>
        <p:nvSpPr>
          <p:cNvPr id="8" name="Text 5"/>
          <p:cNvSpPr txBox="1"/>
          <p:nvPr/>
        </p:nvSpPr>
        <p:spPr>
          <a:xfrm>
            <a:off x="3383280" y="1673352"/>
            <a:ext cx="5486400" cy="457200"/>
          </a:xfrm>
          <a:prstGeom prst="rect">
            <a:avLst/>
          </a:prstGeom>
          <a:noFill/>
          <a:ln/>
        </p:spPr>
        <p:txBody>
          <a:bodyPr wrap="square" lIns="0" tIns="0" rIns="0" bIns="0" rtlCol="0" anchor="t"/>
          <a:lstStyle/>
          <a:p>
            <a:pPr indent="0" marL="0">
              <a:buNone/>
            </a:pPr>
            <a:r>
              <a:rPr lang="en-US" sz="1600" dirty="0">
                <a:solidFill>
                  <a:schemeClr val="tx1"/>
                </a:solidFill>
              </a:rPr>
              <a:t>Read-through lessons 4–120, fix Dutch + story</a:t>
            </a:r>
            <a:endParaRPr lang="en-US" sz="1600" dirty="0"/>
          </a:p>
        </p:txBody>
      </p:sp>
      <p:sp>
        <p:nvSpPr>
          <p:cNvPr id="9" name="Text 6"/>
          <p:cNvSpPr txBox="1"/>
          <p:nvPr/>
        </p:nvSpPr>
        <p:spPr>
          <a:xfrm>
            <a:off x="9052560" y="1673352"/>
            <a:ext cx="2377440" cy="457200"/>
          </a:xfrm>
          <a:prstGeom prst="rect">
            <a:avLst/>
          </a:prstGeom>
          <a:noFill/>
          <a:ln/>
        </p:spPr>
        <p:txBody>
          <a:bodyPr wrap="square" lIns="0" tIns="0" rIns="0" bIns="0" rtlCol="0" anchor="t"/>
          <a:lstStyle/>
          <a:p>
            <a:pPr algn="r" indent="0" marL="0">
              <a:buNone/>
            </a:pPr>
            <a:r>
              <a:rPr lang="en-US" sz="1400" dirty="0">
                <a:solidFill>
                  <a:schemeClr val="tx2"/>
                </a:solidFill>
              </a:rPr>
              <a:t>[Owner] · [date]</a:t>
            </a:r>
            <a:endParaRPr lang="en-US" sz="1400" dirty="0"/>
          </a:p>
        </p:txBody>
      </p:sp>
      <p:sp>
        <p:nvSpPr>
          <p:cNvPr id="10" name="Shape 7"/>
          <p:cNvSpPr/>
          <p:nvPr/>
        </p:nvSpPr>
        <p:spPr>
          <a:xfrm>
            <a:off x="548640" y="2560320"/>
            <a:ext cx="11064240" cy="1005840"/>
          </a:xfrm>
          <a:prstGeom prst="roundRect">
            <a:avLst>
              <a:gd name="adj" fmla="val 10909"/>
            </a:avLst>
          </a:prstGeom>
          <a:solidFill>
            <a:schemeClr val="bg2"/>
          </a:solidFill>
          <a:ln w="12700">
            <a:solidFill>
              <a:schemeClr val="bg2"/>
            </a:solidFill>
            <a:prstDash val="solid"/>
          </a:ln>
        </p:spPr>
      </p:sp>
      <p:sp>
        <p:nvSpPr>
          <p:cNvPr id="11" name="Shape 8"/>
          <p:cNvSpPr/>
          <p:nvPr/>
        </p:nvSpPr>
        <p:spPr>
          <a:xfrm>
            <a:off x="777240" y="2807208"/>
            <a:ext cx="502920" cy="502920"/>
          </a:xfrm>
          <a:prstGeom prst="ellipse">
            <a:avLst/>
          </a:prstGeom>
          <a:solidFill>
            <a:schemeClr val="accent1"/>
          </a:solidFill>
          <a:ln w="12700">
            <a:solidFill>
              <a:schemeClr val="accent1"/>
            </a:solidFill>
            <a:prstDash val="solid"/>
          </a:ln>
        </p:spPr>
      </p:sp>
      <p:sp>
        <p:nvSpPr>
          <p:cNvPr id="12" name="Text 9"/>
          <p:cNvSpPr txBox="1"/>
          <p:nvPr/>
        </p:nvSpPr>
        <p:spPr>
          <a:xfrm>
            <a:off x="777240" y="280720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0"/>
          <p:cNvSpPr txBox="1"/>
          <p:nvPr/>
        </p:nvSpPr>
        <p:spPr>
          <a:xfrm>
            <a:off x="1554480" y="2834640"/>
            <a:ext cx="1828800" cy="457200"/>
          </a:xfrm>
          <a:prstGeom prst="rect">
            <a:avLst/>
          </a:prstGeom>
          <a:noFill/>
          <a:ln/>
        </p:spPr>
        <p:txBody>
          <a:bodyPr wrap="square" lIns="0" tIns="0" rIns="0" bIns="0" rtlCol="0" anchor="t"/>
          <a:lstStyle/>
          <a:p>
            <a:pPr indent="0" marL="0">
              <a:buNone/>
            </a:pPr>
            <a:r>
              <a:rPr lang="en-US" sz="2000" b="1" dirty="0">
                <a:solidFill>
                  <a:schemeClr val="tx1"/>
                </a:solidFill>
              </a:rPr>
              <a:t>Test</a:t>
            </a:r>
            <a:endParaRPr lang="en-US" sz="2000" dirty="0"/>
          </a:p>
        </p:txBody>
      </p:sp>
      <p:sp>
        <p:nvSpPr>
          <p:cNvPr id="14" name="Text 11"/>
          <p:cNvSpPr txBox="1"/>
          <p:nvPr/>
        </p:nvSpPr>
        <p:spPr>
          <a:xfrm>
            <a:off x="3383280" y="2862072"/>
            <a:ext cx="5486400" cy="457200"/>
          </a:xfrm>
          <a:prstGeom prst="rect">
            <a:avLst/>
          </a:prstGeom>
          <a:noFill/>
          <a:ln/>
        </p:spPr>
        <p:txBody>
          <a:bodyPr wrap="square" lIns="0" tIns="0" rIns="0" bIns="0" rtlCol="0" anchor="t"/>
          <a:lstStyle/>
          <a:p>
            <a:pPr indent="0" marL="0">
              <a:buNone/>
            </a:pPr>
            <a:r>
              <a:rPr lang="en-US" sz="1600" dirty="0">
                <a:solidFill>
                  <a:schemeClr val="tx1"/>
                </a:solidFill>
              </a:rPr>
              <a:t>Daily use test, fix annoyances</a:t>
            </a:r>
            <a:endParaRPr lang="en-US" sz="1600" dirty="0"/>
          </a:p>
        </p:txBody>
      </p:sp>
      <p:sp>
        <p:nvSpPr>
          <p:cNvPr id="15" name="Text 12"/>
          <p:cNvSpPr txBox="1"/>
          <p:nvPr/>
        </p:nvSpPr>
        <p:spPr>
          <a:xfrm>
            <a:off x="9052560" y="2862072"/>
            <a:ext cx="2377440" cy="457200"/>
          </a:xfrm>
          <a:prstGeom prst="rect">
            <a:avLst/>
          </a:prstGeom>
          <a:noFill/>
          <a:ln/>
        </p:spPr>
        <p:txBody>
          <a:bodyPr wrap="square" lIns="0" tIns="0" rIns="0" bIns="0" rtlCol="0" anchor="t"/>
          <a:lstStyle/>
          <a:p>
            <a:pPr algn="r" indent="0" marL="0">
              <a:buNone/>
            </a:pPr>
            <a:r>
              <a:rPr lang="en-US" sz="1400" dirty="0">
                <a:solidFill>
                  <a:schemeClr val="tx2"/>
                </a:solidFill>
              </a:rPr>
              <a:t>[Owner] · [date]</a:t>
            </a:r>
            <a:endParaRPr lang="en-US" sz="1400" dirty="0"/>
          </a:p>
        </p:txBody>
      </p:sp>
      <p:sp>
        <p:nvSpPr>
          <p:cNvPr id="16" name="Shape 13"/>
          <p:cNvSpPr/>
          <p:nvPr/>
        </p:nvSpPr>
        <p:spPr>
          <a:xfrm>
            <a:off x="548640" y="3749040"/>
            <a:ext cx="11064240" cy="1005840"/>
          </a:xfrm>
          <a:prstGeom prst="roundRect">
            <a:avLst>
              <a:gd name="adj" fmla="val 10909"/>
            </a:avLst>
          </a:prstGeom>
          <a:solidFill>
            <a:schemeClr val="bg2"/>
          </a:solidFill>
          <a:ln w="12700">
            <a:solidFill>
              <a:schemeClr val="bg2"/>
            </a:solidFill>
            <a:prstDash val="solid"/>
          </a:ln>
        </p:spPr>
      </p:sp>
      <p:sp>
        <p:nvSpPr>
          <p:cNvPr id="17" name="Shape 14"/>
          <p:cNvSpPr/>
          <p:nvPr/>
        </p:nvSpPr>
        <p:spPr>
          <a:xfrm>
            <a:off x="777240" y="3995928"/>
            <a:ext cx="502920" cy="502920"/>
          </a:xfrm>
          <a:prstGeom prst="ellipse">
            <a:avLst/>
          </a:prstGeom>
          <a:solidFill>
            <a:schemeClr val="accent1"/>
          </a:solidFill>
          <a:ln w="12700">
            <a:solidFill>
              <a:schemeClr val="accent1"/>
            </a:solidFill>
            <a:prstDash val="solid"/>
          </a:ln>
        </p:spPr>
      </p:sp>
      <p:sp>
        <p:nvSpPr>
          <p:cNvPr id="18" name="Text 15"/>
          <p:cNvSpPr txBox="1"/>
          <p:nvPr/>
        </p:nvSpPr>
        <p:spPr>
          <a:xfrm>
            <a:off x="777240" y="399592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Text 16"/>
          <p:cNvSpPr txBox="1"/>
          <p:nvPr/>
        </p:nvSpPr>
        <p:spPr>
          <a:xfrm>
            <a:off x="1554480" y="4023360"/>
            <a:ext cx="1828800" cy="457200"/>
          </a:xfrm>
          <a:prstGeom prst="rect">
            <a:avLst/>
          </a:prstGeom>
          <a:noFill/>
          <a:ln/>
        </p:spPr>
        <p:txBody>
          <a:bodyPr wrap="square" lIns="0" tIns="0" rIns="0" bIns="0" rtlCol="0" anchor="t"/>
          <a:lstStyle/>
          <a:p>
            <a:pPr indent="0" marL="0">
              <a:buNone/>
            </a:pPr>
            <a:r>
              <a:rPr lang="en-US" sz="2000" b="1" dirty="0">
                <a:solidFill>
                  <a:schemeClr val="tx1"/>
                </a:solidFill>
              </a:rPr>
              <a:t>Deploy</a:t>
            </a:r>
            <a:endParaRPr lang="en-US" sz="2000" dirty="0"/>
          </a:p>
        </p:txBody>
      </p:sp>
      <p:sp>
        <p:nvSpPr>
          <p:cNvPr id="20" name="Text 17"/>
          <p:cNvSpPr txBox="1"/>
          <p:nvPr/>
        </p:nvSpPr>
        <p:spPr>
          <a:xfrm>
            <a:off x="3383280" y="4050792"/>
            <a:ext cx="5486400" cy="457200"/>
          </a:xfrm>
          <a:prstGeom prst="rect">
            <a:avLst/>
          </a:prstGeom>
          <a:noFill/>
          <a:ln/>
        </p:spPr>
        <p:txBody>
          <a:bodyPr wrap="square" lIns="0" tIns="0" rIns="0" bIns="0" rtlCol="0" anchor="t"/>
          <a:lstStyle/>
          <a:p>
            <a:pPr indent="0" marL="0">
              <a:buNone/>
            </a:pPr>
            <a:r>
              <a:rPr lang="en-US" sz="1600" dirty="0">
                <a:solidFill>
                  <a:schemeClr val="tx1"/>
                </a:solidFill>
              </a:rPr>
              <a:t>Vercel: Vite preset, npm run build → dist</a:t>
            </a:r>
            <a:endParaRPr lang="en-US" sz="1600" dirty="0"/>
          </a:p>
        </p:txBody>
      </p:sp>
      <p:sp>
        <p:nvSpPr>
          <p:cNvPr id="21" name="Text 18"/>
          <p:cNvSpPr txBox="1"/>
          <p:nvPr/>
        </p:nvSpPr>
        <p:spPr>
          <a:xfrm>
            <a:off x="9052560" y="4050792"/>
            <a:ext cx="2377440" cy="457200"/>
          </a:xfrm>
          <a:prstGeom prst="rect">
            <a:avLst/>
          </a:prstGeom>
          <a:noFill/>
          <a:ln/>
        </p:spPr>
        <p:txBody>
          <a:bodyPr wrap="square" lIns="0" tIns="0" rIns="0" bIns="0" rtlCol="0" anchor="t"/>
          <a:lstStyle/>
          <a:p>
            <a:pPr algn="r" indent="0" marL="0">
              <a:buNone/>
            </a:pPr>
            <a:r>
              <a:rPr lang="en-US" sz="1400" dirty="0">
                <a:solidFill>
                  <a:schemeClr val="tx2"/>
                </a:solidFill>
              </a:rPr>
              <a:t>[Owner] · [date]</a:t>
            </a:r>
            <a:endParaRPr lang="en-US" sz="1400" dirty="0"/>
          </a:p>
        </p:txBody>
      </p:sp>
      <p:sp>
        <p:nvSpPr>
          <p:cNvPr id="22" name="Shape 19"/>
          <p:cNvSpPr/>
          <p:nvPr/>
        </p:nvSpPr>
        <p:spPr>
          <a:xfrm>
            <a:off x="548640" y="4937760"/>
            <a:ext cx="11064240" cy="1005840"/>
          </a:xfrm>
          <a:prstGeom prst="roundRect">
            <a:avLst>
              <a:gd name="adj" fmla="val 10909"/>
            </a:avLst>
          </a:prstGeom>
          <a:solidFill>
            <a:schemeClr val="bg2"/>
          </a:solidFill>
          <a:ln w="12700">
            <a:solidFill>
              <a:schemeClr val="bg2"/>
            </a:solidFill>
            <a:prstDash val="solid"/>
          </a:ln>
        </p:spPr>
      </p:sp>
      <p:sp>
        <p:nvSpPr>
          <p:cNvPr id="23" name="Shape 20"/>
          <p:cNvSpPr/>
          <p:nvPr/>
        </p:nvSpPr>
        <p:spPr>
          <a:xfrm>
            <a:off x="777240" y="5184648"/>
            <a:ext cx="502920" cy="502920"/>
          </a:xfrm>
          <a:prstGeom prst="ellipse">
            <a:avLst/>
          </a:prstGeom>
          <a:solidFill>
            <a:schemeClr val="accent1"/>
          </a:solidFill>
          <a:ln w="12700">
            <a:solidFill>
              <a:schemeClr val="accent1"/>
            </a:solidFill>
            <a:prstDash val="solid"/>
          </a:ln>
        </p:spPr>
      </p:sp>
      <p:sp>
        <p:nvSpPr>
          <p:cNvPr id="24" name="Text 21"/>
          <p:cNvSpPr txBox="1"/>
          <p:nvPr/>
        </p:nvSpPr>
        <p:spPr>
          <a:xfrm>
            <a:off x="777240" y="518464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5" name="Text 22"/>
          <p:cNvSpPr txBox="1"/>
          <p:nvPr/>
        </p:nvSpPr>
        <p:spPr>
          <a:xfrm>
            <a:off x="1554480" y="5212080"/>
            <a:ext cx="1828800" cy="457200"/>
          </a:xfrm>
          <a:prstGeom prst="rect">
            <a:avLst/>
          </a:prstGeom>
          <a:noFill/>
          <a:ln/>
        </p:spPr>
        <p:txBody>
          <a:bodyPr wrap="square" lIns="0" tIns="0" rIns="0" bIns="0" rtlCol="0" anchor="t"/>
          <a:lstStyle/>
          <a:p>
            <a:pPr indent="0" marL="0">
              <a:buNone/>
            </a:pPr>
            <a:r>
              <a:rPr lang="en-US" sz="2000" b="1" dirty="0">
                <a:solidFill>
                  <a:schemeClr val="tx1"/>
                </a:solidFill>
              </a:rPr>
              <a:t>Close</a:t>
            </a:r>
            <a:endParaRPr lang="en-US" sz="2000" dirty="0"/>
          </a:p>
        </p:txBody>
      </p:sp>
      <p:sp>
        <p:nvSpPr>
          <p:cNvPr id="26" name="Text 23"/>
          <p:cNvSpPr txBox="1"/>
          <p:nvPr/>
        </p:nvSpPr>
        <p:spPr>
          <a:xfrm>
            <a:off x="3383280" y="5239512"/>
            <a:ext cx="5486400" cy="457200"/>
          </a:xfrm>
          <a:prstGeom prst="rect">
            <a:avLst/>
          </a:prstGeom>
          <a:noFill/>
          <a:ln/>
        </p:spPr>
        <p:txBody>
          <a:bodyPr wrap="square" lIns="0" tIns="0" rIns="0" bIns="0" rtlCol="0" anchor="t"/>
          <a:lstStyle/>
          <a:p>
            <a:pPr indent="0" marL="0">
              <a:buNone/>
            </a:pPr>
            <a:r>
              <a:rPr lang="en-US" sz="1600" dirty="0">
                <a:solidFill>
                  <a:schemeClr val="tx1"/>
                </a:solidFill>
              </a:rPr>
              <a:t>Live smoke test, update PLAN.md, sponsor sign-off</a:t>
            </a:r>
            <a:endParaRPr lang="en-US" sz="1600" dirty="0"/>
          </a:p>
        </p:txBody>
      </p:sp>
      <p:sp>
        <p:nvSpPr>
          <p:cNvPr id="27" name="Text 24"/>
          <p:cNvSpPr txBox="1"/>
          <p:nvPr/>
        </p:nvSpPr>
        <p:spPr>
          <a:xfrm>
            <a:off x="9052560" y="5239512"/>
            <a:ext cx="2377440" cy="457200"/>
          </a:xfrm>
          <a:prstGeom prst="rect">
            <a:avLst/>
          </a:prstGeom>
          <a:noFill/>
          <a:ln/>
        </p:spPr>
        <p:txBody>
          <a:bodyPr wrap="square" lIns="0" tIns="0" rIns="0" bIns="0" rtlCol="0" anchor="t"/>
          <a:lstStyle/>
          <a:p>
            <a:pPr algn="r" indent="0" marL="0">
              <a:buNone/>
            </a:pPr>
            <a:r>
              <a:rPr lang="en-US" sz="1400" dirty="0">
                <a:solidFill>
                  <a:schemeClr val="tx2"/>
                </a:solidFill>
              </a:rPr>
              <a:t>[Owner] · [date]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Dank je wel!</a:t>
            </a:r>
            <a:endParaRPr lang="en-US" sz="4800" dirty="0"/>
          </a:p>
        </p:txBody>
      </p:sp>
      <p:sp>
        <p:nvSpPr>
          <p:cNvPr id="3" name="Text 0"/>
          <p:cNvSpPr/>
          <p:nvPr>
            <p:ph idx="101" type="body" hasCustomPrompt="1"/>
          </p:nvPr>
        </p:nvSpPr>
        <p:spPr>
          <a:xfrm>
            <a:off x="731520" y="3566160"/>
            <a:ext cx="10698480" cy="1097280"/>
          </a:xfrm>
          <a:prstGeom prst="rect">
            <a:avLst/>
          </a:prstGeom>
          <a:noFill/>
          <a:ln/>
        </p:spPr>
        <p:txBody>
          <a:bodyPr wrap="square" rtlCol="0" anchor="t"/>
          <a:lstStyle/>
          <a:p>
            <a:pPr algn="l" indent="0" marL="0">
              <a:buNone/>
            </a:pPr>
            <a:r>
              <a:rPr lang="en-US" sz="2000" dirty="0">
                <a:solidFill>
                  <a:schemeClr val="bg2"/>
                </a:solidFill>
              </a:rPr>
              <a:t>Questions? · Live demo: [live URL after deployment]</a:t>
            </a:r>
            <a:endParaRPr lang="en-US" sz="2000" dirty="0"/>
          </a:p>
        </p:txBody>
      </p:sp>
    </p:spTree>
  </p:cSld>
  <p:clrMapOvr>
    <a:masterClrMapping/>
  </p:clrMapOvr>
</p:sld>
</file>

<file path=ppt/theme/theme1.xml><?xml version="1.0" encoding="utf-8"?>
<a:theme xmlns:a="http://schemas.openxmlformats.org/drawingml/2006/main" name="DailyDutch">
  <a:themeElements>
    <a:clrScheme name="DailyDutch">
      <a:dk1>
        <a:srgbClr val="1B2233"/>
      </a:dk1>
      <a:lt1>
        <a:srgbClr val="FFFFFF"/>
      </a:lt1>
      <a:dk2>
        <a:srgbClr val="5A6275"/>
      </a:dk2>
      <a:lt2>
        <a:srgbClr val="F3F4F7"/>
      </a:lt2>
      <a:accent1>
        <a:srgbClr val="E8650A"/>
      </a:accent1>
      <a:accent2>
        <a:srgbClr val="1B2233"/>
      </a:accent2>
      <a:accent3>
        <a:srgbClr val="2E8B57"/>
      </a:accent3>
      <a:accent4>
        <a:srgbClr val="C0392B"/>
      </a:accent4>
      <a:accent5>
        <a:srgbClr val="F2B705"/>
      </a:accent5>
      <a:accent6>
        <a:srgbClr val="7A8296"/>
      </a:accent6>
      <a:hlink>
        <a:srgbClr val="E8650A"/>
      </a:hlink>
      <a:folHlink>
        <a:srgbClr val="A64B0A"/>
      </a:folHlink>
    </a:clrScheme>
    <a:fontScheme name="DailyDutc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DailyDutch — Final Presentation</dc:title>
  <dc:subject>PptxGenJS Presentation</dc:subject>
  <dc:creator>DailyDutch project team</dc:creator>
  <cp:lastModifiedBy>DailyDutch project team</cp:lastModifiedBy>
  <cp:revision>1</cp:revision>
  <dcterms:created xsi:type="dcterms:W3CDTF">2026-10-28T08:42:19Z</dcterms:created>
  <dcterms:modified xsi:type="dcterms:W3CDTF">2026-10-28T08:42:19Z</dcterms:modified>
</cp:coreProperties>
</file>